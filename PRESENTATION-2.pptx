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59.png" ContentType="image/png"/>
  <Override PartName="/ppt/media/image3.png" ContentType="image/png"/>
  <Override PartName="/ppt/media/image4.png" ContentType="image/png"/>
  <Override PartName="/ppt/media/image70.png" ContentType="image/png"/>
  <Override PartName="/ppt/media/image71.png" ContentType="image/png"/>
  <Override PartName="/ppt/media/image5.png" ContentType="image/png"/>
  <Override PartName="/ppt/media/image72.png" ContentType="image/png"/>
  <Override PartName="/ppt/media/image6.png" ContentType="image/png"/>
  <Override PartName="/ppt/media/image73.png" ContentType="image/png"/>
  <Override PartName="/ppt/media/image7.png" ContentType="image/png"/>
  <Override PartName="/ppt/media/image74.png" ContentType="image/png"/>
  <Override PartName="/ppt/media/image8.png" ContentType="image/png"/>
  <Override PartName="/ppt/media/image75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8A186632-881C-4B24-A5D3-3728F50B62B4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9/17/26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AA12952-A613-4045-AEED-5C84900E88B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2" name="Picture 2" descr="image.png"/>
          <p:cNvPicPr/>
          <p:nvPr/>
        </p:nvPicPr>
        <p:blipFill>
          <a:blip r:embed="rId2"/>
          <a:stretch/>
        </p:blipFill>
        <p:spPr>
          <a:xfrm>
            <a:off x="4538520" y="2425680"/>
            <a:ext cx="3114360" cy="304560"/>
          </a:xfrm>
          <a:prstGeom prst="rect">
            <a:avLst/>
          </a:prstGeom>
          <a:ln w="0">
            <a:noFill/>
          </a:ln>
        </p:spPr>
      </p:pic>
      <p:sp>
        <p:nvSpPr>
          <p:cNvPr id="43" name="TextBox 3"/>
          <p:cNvSpPr/>
          <p:nvPr/>
        </p:nvSpPr>
        <p:spPr>
          <a:xfrm>
            <a:off x="2210400" y="2921040"/>
            <a:ext cx="777060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5003"/>
              </a:lnSpc>
            </a:pPr>
            <a:r>
              <a:rPr b="1" lang="en-US" sz="4350" spc="-1" strike="noStrike">
                <a:solidFill>
                  <a:srgbClr val="0f172a"/>
                </a:solidFill>
                <a:latin typeface="Space Grotesk"/>
              </a:rPr>
              <a:t>Retail Database Architecture</a:t>
            </a:r>
            <a:endParaRPr b="0" lang="en-IN" sz="435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2190600" y="3746520"/>
            <a:ext cx="78102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2251"/>
              </a:lnSpc>
            </a:pPr>
            <a:r>
              <a:rPr b="0" lang="en-US" sz="1500" spc="-1" strike="noStrike">
                <a:solidFill>
                  <a:srgbClr val="475569"/>
                </a:solidFill>
                <a:latin typeface="DM Sans"/>
              </a:rPr>
              <a:t>A 3NF relational schema with automated inventory reconciliation, strict transactional constraints, and immutable audit logs.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6" name="Picture 2" descr="image.png"/>
          <p:cNvPicPr/>
          <p:nvPr/>
        </p:nvPicPr>
        <p:blipFill>
          <a:blip r:embed="rId2"/>
          <a:stretch/>
        </p:blipFill>
        <p:spPr>
          <a:xfrm>
            <a:off x="533520" y="1719360"/>
            <a:ext cx="5390640" cy="4057200"/>
          </a:xfrm>
          <a:prstGeom prst="rect">
            <a:avLst/>
          </a:prstGeom>
          <a:ln w="0">
            <a:noFill/>
          </a:ln>
        </p:spPr>
      </p:pic>
      <p:pic>
        <p:nvPicPr>
          <p:cNvPr id="47" name="Picture 3" descr="image.png"/>
          <p:cNvPicPr/>
          <p:nvPr/>
        </p:nvPicPr>
        <p:blipFill>
          <a:blip r:embed="rId3"/>
          <a:stretch/>
        </p:blipFill>
        <p:spPr>
          <a:xfrm>
            <a:off x="6267600" y="1719360"/>
            <a:ext cx="5390640" cy="4057200"/>
          </a:xfrm>
          <a:prstGeom prst="rect">
            <a:avLst/>
          </a:prstGeom>
          <a:ln w="0">
            <a:noFill/>
          </a:ln>
        </p:spPr>
      </p:pic>
      <p:sp>
        <p:nvSpPr>
          <p:cNvPr id="48" name="TextBox 4"/>
          <p:cNvSpPr/>
          <p:nvPr/>
        </p:nvSpPr>
        <p:spPr>
          <a:xfrm>
            <a:off x="1200240" y="2040840"/>
            <a:ext cx="463032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650" spc="-1" strike="noStrike">
                <a:solidFill>
                  <a:srgbClr val="1d4ed8"/>
                </a:solidFill>
                <a:latin typeface="Space Grotesk"/>
              </a:rPr>
              <a:t>Entity Ecosystem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49" name="TextBox 5"/>
          <p:cNvSpPr/>
          <p:nvPr/>
        </p:nvSpPr>
        <p:spPr>
          <a:xfrm>
            <a:off x="847800" y="2452680"/>
            <a:ext cx="47620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The schema focuses on seven interrelated entities designed to handle commercial retail transactions cleanly without redundant coupling: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" name="TextBox 6"/>
          <p:cNvSpPr/>
          <p:nvPr/>
        </p:nvSpPr>
        <p:spPr>
          <a:xfrm>
            <a:off x="6934320" y="2040840"/>
            <a:ext cx="463032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650" spc="-1" strike="noStrike">
                <a:solidFill>
                  <a:srgbClr val="1d4ed8"/>
                </a:solidFill>
                <a:latin typeface="Space Grotesk"/>
              </a:rPr>
              <a:t>Structural Principles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51" name="TextBox 7"/>
          <p:cNvSpPr/>
          <p:nvPr/>
        </p:nvSpPr>
        <p:spPr>
          <a:xfrm>
            <a:off x="6581880" y="2452680"/>
            <a:ext cx="4762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To ensure high database health and prevent performance degradation: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52" name="Picture 8" descr="image.png"/>
          <p:cNvPicPr/>
          <p:nvPr/>
        </p:nvPicPr>
        <p:blipFill>
          <a:blip r:embed="rId4"/>
          <a:stretch/>
        </p:blipFill>
        <p:spPr>
          <a:xfrm>
            <a:off x="847800" y="2062080"/>
            <a:ext cx="237600" cy="209160"/>
          </a:xfrm>
          <a:prstGeom prst="rect">
            <a:avLst/>
          </a:prstGeom>
          <a:ln w="0">
            <a:noFill/>
          </a:ln>
        </p:spPr>
      </p:pic>
      <p:sp>
        <p:nvSpPr>
          <p:cNvPr id="53" name="TextBox 9"/>
          <p:cNvSpPr/>
          <p:nvPr/>
        </p:nvSpPr>
        <p:spPr>
          <a:xfrm>
            <a:off x="981000" y="325296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1038240" y="32529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Customers &amp; Suppliers: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Foundational master entities providing demographic and vendor source data.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TextBox 11"/>
          <p:cNvSpPr/>
          <p:nvPr/>
        </p:nvSpPr>
        <p:spPr>
          <a:xfrm>
            <a:off x="981000" y="380520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6" name="TextBox 12"/>
          <p:cNvSpPr/>
          <p:nvPr/>
        </p:nvSpPr>
        <p:spPr>
          <a:xfrm>
            <a:off x="1038240" y="3805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Products &amp; InventoryLog: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Separation of live stock state from historical audit trail events.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TextBox 13"/>
          <p:cNvSpPr/>
          <p:nvPr/>
        </p:nvSpPr>
        <p:spPr>
          <a:xfrm>
            <a:off x="981000" y="435780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TextBox 14"/>
          <p:cNvSpPr/>
          <p:nvPr/>
        </p:nvSpPr>
        <p:spPr>
          <a:xfrm>
            <a:off x="1038240" y="43578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Orders &amp; OrderDetails: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Normalized header-to-line-item structure modeling order cardinality.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9" name="TextBox 15"/>
          <p:cNvSpPr/>
          <p:nvPr/>
        </p:nvSpPr>
        <p:spPr>
          <a:xfrm>
            <a:off x="981000" y="491004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TextBox 16"/>
          <p:cNvSpPr/>
          <p:nvPr/>
        </p:nvSpPr>
        <p:spPr>
          <a:xfrm>
            <a:off x="1038240" y="49100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Reviews: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Customer feedback mechanism restricted by relational uniqueness.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61" name="Picture 17" descr="image.png"/>
          <p:cNvPicPr/>
          <p:nvPr/>
        </p:nvPicPr>
        <p:blipFill>
          <a:blip r:embed="rId5"/>
          <a:stretch/>
        </p:blipFill>
        <p:spPr>
          <a:xfrm>
            <a:off x="6581880" y="2062080"/>
            <a:ext cx="237600" cy="209160"/>
          </a:xfrm>
          <a:prstGeom prst="rect">
            <a:avLst/>
          </a:prstGeom>
          <a:ln w="0">
            <a:noFill/>
          </a:ln>
        </p:spPr>
      </p:pic>
      <p:sp>
        <p:nvSpPr>
          <p:cNvPr id="62" name="TextBox 18"/>
          <p:cNvSpPr/>
          <p:nvPr/>
        </p:nvSpPr>
        <p:spPr>
          <a:xfrm>
            <a:off x="6715080" y="302436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3" name="TextBox 19"/>
          <p:cNvSpPr/>
          <p:nvPr/>
        </p:nvSpPr>
        <p:spPr>
          <a:xfrm>
            <a:off x="6772320" y="30243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3rd Normal Form (3NF):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Elimination of transitive dependencies; non-key attributes strictly depend on primary keys.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4" name="TextBox 20"/>
          <p:cNvSpPr/>
          <p:nvPr/>
        </p:nvSpPr>
        <p:spPr>
          <a:xfrm>
            <a:off x="6715080" y="357660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5" name="TextBox 21"/>
          <p:cNvSpPr/>
          <p:nvPr/>
        </p:nvSpPr>
        <p:spPr>
          <a:xfrm>
            <a:off x="6772320" y="357660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Deterministic Execution: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Base catalog tables are defined prior to dependent transaction tables to guarantee clean DDL runs.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6" name="TextBox 22"/>
          <p:cNvSpPr/>
          <p:nvPr/>
        </p:nvSpPr>
        <p:spPr>
          <a:xfrm>
            <a:off x="6715080" y="412920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" name="TextBox 23"/>
          <p:cNvSpPr/>
          <p:nvPr/>
        </p:nvSpPr>
        <p:spPr>
          <a:xfrm>
            <a:off x="6772320" y="41292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Generated Math: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Persistent generated column LineTotal calculated automatically at the database level.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" name="TextBox 24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Core Entities &amp; Relational Scope</a:t>
            </a:r>
            <a:endParaRPr b="0" lang="en-IN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0" name="TextBox 3"/>
          <p:cNvSpPr/>
          <p:nvPr/>
        </p:nvSpPr>
        <p:spPr>
          <a:xfrm>
            <a:off x="533520" y="1671480"/>
            <a:ext cx="5909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Relational Connections in Retail Operations: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71" name="Picture 4" descr="image.png"/>
          <p:cNvPicPr/>
          <p:nvPr/>
        </p:nvPicPr>
        <p:blipFill>
          <a:blip r:embed="rId2"/>
          <a:stretch/>
        </p:blipFill>
        <p:spPr>
          <a:xfrm>
            <a:off x="6947280" y="1681200"/>
            <a:ext cx="4587120" cy="4133520"/>
          </a:xfrm>
          <a:prstGeom prst="rect">
            <a:avLst/>
          </a:prstGeom>
          <a:ln w="0">
            <a:noFill/>
          </a:ln>
        </p:spPr>
      </p:pic>
      <p:sp>
        <p:nvSpPr>
          <p:cNvPr id="72" name="Rounded Rectangle 5"/>
          <p:cNvSpPr/>
          <p:nvPr/>
        </p:nvSpPr>
        <p:spPr>
          <a:xfrm>
            <a:off x="533520" y="2014560"/>
            <a:ext cx="590904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6"/>
          <p:cNvSpPr/>
          <p:nvPr/>
        </p:nvSpPr>
        <p:spPr>
          <a:xfrm>
            <a:off x="1104840" y="2185920"/>
            <a:ext cx="51087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Customers to Orders (1:N):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One customer places multiple orders; each order links to exactly one valid customer record.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" name="Rounded Rectangle 7"/>
          <p:cNvSpPr/>
          <p:nvPr/>
        </p:nvSpPr>
        <p:spPr>
          <a:xfrm>
            <a:off x="533520" y="2967120"/>
            <a:ext cx="590904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8"/>
          <p:cNvSpPr/>
          <p:nvPr/>
        </p:nvSpPr>
        <p:spPr>
          <a:xfrm>
            <a:off x="1104840" y="3138480"/>
            <a:ext cx="51087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Orders to OrderDetails (1:N):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Each order header branches into line items, breaking the many-to-many relationship with Products.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" name="Rounded Rectangle 9"/>
          <p:cNvSpPr/>
          <p:nvPr/>
        </p:nvSpPr>
        <p:spPr>
          <a:xfrm>
            <a:off x="533520" y="3919680"/>
            <a:ext cx="590904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1104840" y="4091040"/>
            <a:ext cx="51087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Products to Suppliers (N:1):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Products reference single suppliers, maintaining clear vendor accountability.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8" name="Rounded Rectangle 11"/>
          <p:cNvSpPr/>
          <p:nvPr/>
        </p:nvSpPr>
        <p:spPr>
          <a:xfrm>
            <a:off x="533520" y="4871880"/>
            <a:ext cx="590904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12"/>
          <p:cNvSpPr/>
          <p:nvPr/>
        </p:nvSpPr>
        <p:spPr>
          <a:xfrm>
            <a:off x="1104840" y="5043600"/>
            <a:ext cx="51087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Dual Parentage on Reviews: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Links CustomerID and ProductID with a composite unique rule.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0" name="Rectangle 13"/>
          <p:cNvSpPr/>
          <p:nvPr/>
        </p:nvSpPr>
        <p:spPr>
          <a:xfrm>
            <a:off x="533520" y="2824200"/>
            <a:ext cx="5909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Rectangle 14"/>
          <p:cNvSpPr/>
          <p:nvPr/>
        </p:nvSpPr>
        <p:spPr>
          <a:xfrm>
            <a:off x="533520" y="3776760"/>
            <a:ext cx="5909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Rectangle 15"/>
          <p:cNvSpPr/>
          <p:nvPr/>
        </p:nvSpPr>
        <p:spPr>
          <a:xfrm>
            <a:off x="533520" y="4729320"/>
            <a:ext cx="5909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Rectangle 16"/>
          <p:cNvSpPr/>
          <p:nvPr/>
        </p:nvSpPr>
        <p:spPr>
          <a:xfrm>
            <a:off x="533520" y="5681520"/>
            <a:ext cx="5909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84" name="Picture 17" descr="image.png"/>
          <p:cNvPicPr/>
          <p:nvPr/>
        </p:nvPicPr>
        <p:blipFill>
          <a:blip r:embed="rId3"/>
          <a:stretch/>
        </p:blipFill>
        <p:spPr>
          <a:xfrm>
            <a:off x="733320" y="220968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18" descr="image.png"/>
          <p:cNvPicPr/>
          <p:nvPr/>
        </p:nvPicPr>
        <p:blipFill>
          <a:blip r:embed="rId4"/>
          <a:stretch/>
        </p:blipFill>
        <p:spPr>
          <a:xfrm>
            <a:off x="733320" y="316224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86" name="Picture 19" descr="image.png"/>
          <p:cNvPicPr/>
          <p:nvPr/>
        </p:nvPicPr>
        <p:blipFill>
          <a:blip r:embed="rId5"/>
          <a:stretch/>
        </p:blipFill>
        <p:spPr>
          <a:xfrm>
            <a:off x="733320" y="411480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20" descr="image.png"/>
          <p:cNvPicPr/>
          <p:nvPr/>
        </p:nvPicPr>
        <p:blipFill>
          <a:blip r:embed="rId6"/>
          <a:stretch/>
        </p:blipFill>
        <p:spPr>
          <a:xfrm>
            <a:off x="733320" y="5067360"/>
            <a:ext cx="171000" cy="199800"/>
          </a:xfrm>
          <a:prstGeom prst="rect">
            <a:avLst/>
          </a:prstGeom>
          <a:ln w="0">
            <a:noFill/>
          </a:ln>
        </p:spPr>
      </p:pic>
      <p:sp>
        <p:nvSpPr>
          <p:cNvPr id="88" name="TextBox 21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Entity Relationship Topography</a:t>
            </a:r>
            <a:endParaRPr b="0" lang="en-IN" sz="2550" spc="-1" strike="noStrike"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7"/>
          <a:stretch/>
        </p:blipFill>
        <p:spPr>
          <a:xfrm>
            <a:off x="6660000" y="1620000"/>
            <a:ext cx="5400000" cy="362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91" name="Table 2"/>
          <p:cNvGraphicFramePr/>
          <p:nvPr/>
        </p:nvGraphicFramePr>
        <p:xfrm>
          <a:off x="533520" y="2323080"/>
          <a:ext cx="11124720" cy="2850120"/>
        </p:xfrm>
        <a:graphic>
          <a:graphicData uri="http://schemas.openxmlformats.org/drawingml/2006/table">
            <a:tbl>
              <a:tblPr/>
              <a:tblGrid>
                <a:gridCol w="1309320"/>
                <a:gridCol w="1173600"/>
                <a:gridCol w="2566080"/>
                <a:gridCol w="1821600"/>
                <a:gridCol w="4254120"/>
              </a:tblGrid>
              <a:tr h="5698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Table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Key Field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Type &amp; Constraints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Referenced Parent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Business Purpose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698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Customers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customerID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INT, AUTO_INCREMENT, PK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i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None (Master)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Stores buyer identities, names, DOB, and mailing addresses.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5698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Suppliers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supplierID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INT, UNIQUE(suppliername)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i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None (Master)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Houses vendor partners, reliability scores, and contact information.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5698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Products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ProductID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INT, AUTO_INCREMENT, PK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supplierID → Suppliers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Tracks merchandise, cost vs. retail price, and live shelf stock.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5706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Products Rules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Constraints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CHECK (Price &gt; 0), StockQuantity ≥ 0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i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Database Engine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Guarantees inventory counts and unit pricing never drop negative.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Rectangle 3"/>
          <p:cNvSpPr/>
          <p:nvPr/>
        </p:nvSpPr>
        <p:spPr>
          <a:xfrm>
            <a:off x="533520" y="2761200"/>
            <a:ext cx="1308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Rectangle 4"/>
          <p:cNvSpPr/>
          <p:nvPr/>
        </p:nvSpPr>
        <p:spPr>
          <a:xfrm>
            <a:off x="1842840" y="2761200"/>
            <a:ext cx="1173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Rectangle 5"/>
          <p:cNvSpPr/>
          <p:nvPr/>
        </p:nvSpPr>
        <p:spPr>
          <a:xfrm>
            <a:off x="3016440" y="2761200"/>
            <a:ext cx="2565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Rectangle 6"/>
          <p:cNvSpPr/>
          <p:nvPr/>
        </p:nvSpPr>
        <p:spPr>
          <a:xfrm>
            <a:off x="5582520" y="2761200"/>
            <a:ext cx="1821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Rectangle 7"/>
          <p:cNvSpPr/>
          <p:nvPr/>
        </p:nvSpPr>
        <p:spPr>
          <a:xfrm>
            <a:off x="7404120" y="2761200"/>
            <a:ext cx="4254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Rectangle 8"/>
          <p:cNvSpPr/>
          <p:nvPr/>
        </p:nvSpPr>
        <p:spPr>
          <a:xfrm>
            <a:off x="533520" y="3208680"/>
            <a:ext cx="1308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Rectangle 9"/>
          <p:cNvSpPr/>
          <p:nvPr/>
        </p:nvSpPr>
        <p:spPr>
          <a:xfrm>
            <a:off x="1842840" y="3208680"/>
            <a:ext cx="1173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Rectangle 10"/>
          <p:cNvSpPr/>
          <p:nvPr/>
        </p:nvSpPr>
        <p:spPr>
          <a:xfrm>
            <a:off x="3016440" y="3208680"/>
            <a:ext cx="2565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Rectangle 11"/>
          <p:cNvSpPr/>
          <p:nvPr/>
        </p:nvSpPr>
        <p:spPr>
          <a:xfrm>
            <a:off x="5582520" y="3208680"/>
            <a:ext cx="1821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Rectangle 12"/>
          <p:cNvSpPr/>
          <p:nvPr/>
        </p:nvSpPr>
        <p:spPr>
          <a:xfrm>
            <a:off x="7404120" y="3208680"/>
            <a:ext cx="4254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Rectangle 13"/>
          <p:cNvSpPr/>
          <p:nvPr/>
        </p:nvSpPr>
        <p:spPr>
          <a:xfrm>
            <a:off x="533520" y="3861360"/>
            <a:ext cx="1308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Rectangle 14"/>
          <p:cNvSpPr/>
          <p:nvPr/>
        </p:nvSpPr>
        <p:spPr>
          <a:xfrm>
            <a:off x="1842840" y="3861360"/>
            <a:ext cx="1173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Rectangle 15"/>
          <p:cNvSpPr/>
          <p:nvPr/>
        </p:nvSpPr>
        <p:spPr>
          <a:xfrm>
            <a:off x="3016440" y="3861360"/>
            <a:ext cx="2565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Rectangle 16"/>
          <p:cNvSpPr/>
          <p:nvPr/>
        </p:nvSpPr>
        <p:spPr>
          <a:xfrm>
            <a:off x="5582520" y="3861360"/>
            <a:ext cx="1821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17"/>
          <p:cNvSpPr/>
          <p:nvPr/>
        </p:nvSpPr>
        <p:spPr>
          <a:xfrm>
            <a:off x="7404120" y="3861360"/>
            <a:ext cx="4254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Rectangle 18"/>
          <p:cNvSpPr/>
          <p:nvPr/>
        </p:nvSpPr>
        <p:spPr>
          <a:xfrm>
            <a:off x="533520" y="4516200"/>
            <a:ext cx="13089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Rectangle 19"/>
          <p:cNvSpPr/>
          <p:nvPr/>
        </p:nvSpPr>
        <p:spPr>
          <a:xfrm>
            <a:off x="1842840" y="4516200"/>
            <a:ext cx="1173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Rectangle 20"/>
          <p:cNvSpPr/>
          <p:nvPr/>
        </p:nvSpPr>
        <p:spPr>
          <a:xfrm>
            <a:off x="3016440" y="4516200"/>
            <a:ext cx="2565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Rectangle 21"/>
          <p:cNvSpPr/>
          <p:nvPr/>
        </p:nvSpPr>
        <p:spPr>
          <a:xfrm>
            <a:off x="5582520" y="4516200"/>
            <a:ext cx="1821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Rectangle 22"/>
          <p:cNvSpPr/>
          <p:nvPr/>
        </p:nvSpPr>
        <p:spPr>
          <a:xfrm>
            <a:off x="7404120" y="4516200"/>
            <a:ext cx="42541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12" name="Picture 23" descr="image.png"/>
          <p:cNvPicPr/>
          <p:nvPr/>
        </p:nvPicPr>
        <p:blipFill>
          <a:blip r:embed="rId2"/>
          <a:stretch/>
        </p:blipFill>
        <p:spPr>
          <a:xfrm>
            <a:off x="1995120" y="2889720"/>
            <a:ext cx="799920" cy="20916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24" descr="image.png"/>
          <p:cNvPicPr/>
          <p:nvPr/>
        </p:nvPicPr>
        <p:blipFill>
          <a:blip r:embed="rId3"/>
          <a:stretch/>
        </p:blipFill>
        <p:spPr>
          <a:xfrm>
            <a:off x="1995120" y="3439800"/>
            <a:ext cx="799920" cy="20916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25" descr="image.png"/>
          <p:cNvPicPr/>
          <p:nvPr/>
        </p:nvPicPr>
        <p:blipFill>
          <a:blip r:embed="rId4"/>
          <a:stretch/>
        </p:blipFill>
        <p:spPr>
          <a:xfrm>
            <a:off x="1995120" y="4093200"/>
            <a:ext cx="731160" cy="20916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26" descr="image.png"/>
          <p:cNvPicPr/>
          <p:nvPr/>
        </p:nvPicPr>
        <p:blipFill>
          <a:blip r:embed="rId5"/>
          <a:stretch/>
        </p:blipFill>
        <p:spPr>
          <a:xfrm>
            <a:off x="5734800" y="3989880"/>
            <a:ext cx="799920" cy="20916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27" descr="image.png"/>
          <p:cNvPicPr/>
          <p:nvPr/>
        </p:nvPicPr>
        <p:blipFill>
          <a:blip r:embed="rId6"/>
          <a:stretch/>
        </p:blipFill>
        <p:spPr>
          <a:xfrm>
            <a:off x="1995120" y="4746960"/>
            <a:ext cx="868320" cy="209160"/>
          </a:xfrm>
          <a:prstGeom prst="rect">
            <a:avLst/>
          </a:prstGeom>
          <a:ln w="0">
            <a:noFill/>
          </a:ln>
        </p:spPr>
      </p:pic>
      <p:sp>
        <p:nvSpPr>
          <p:cNvPr id="117" name="TextBox 28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Catalog &amp; Master Tables</a:t>
            </a:r>
            <a:endParaRPr b="0" lang="en-IN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19" name="Table 2"/>
          <p:cNvGraphicFramePr/>
          <p:nvPr/>
        </p:nvGraphicFramePr>
        <p:xfrm>
          <a:off x="533520" y="2216880"/>
          <a:ext cx="11124720" cy="3061800"/>
        </p:xfrm>
        <a:graphic>
          <a:graphicData uri="http://schemas.openxmlformats.org/drawingml/2006/table">
            <a:tbl>
              <a:tblPr/>
              <a:tblGrid>
                <a:gridCol w="1209600"/>
                <a:gridCol w="1310760"/>
                <a:gridCol w="1811880"/>
                <a:gridCol w="3260160"/>
                <a:gridCol w="3532320"/>
              </a:tblGrid>
              <a:tr h="6123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Table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Primary Key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Foreign Keys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Computed / Special Fields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Integrity Rule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123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Orders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OrderID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CustomerID → Customers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UUID() TrackingNumber, CURRENT_TIMESTAMP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CHECK (TotalAmount ≥ 0), PaymentStatus enum-check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6123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OrderDetails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OrderDetailID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OrderID, ProductID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LineTotal = (Quantity * UnitPrice) STORED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CHECK (Quantity &gt; 0), INDEX IX_OrderDetails_Product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6123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Reviews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ReviewID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CustomerID, ProductID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CURRENT_TIMESTAMP ReviewDate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CHECK (Rating BETWEEN 1 AND 5), UNIQUE(CustID, ProdID)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61236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InventoryLog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LogID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ProductID → Products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Adjustment INT, Reason VARCHAR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Immutable write-only audit trail logging delta movements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" name="Rectangle 3"/>
          <p:cNvSpPr/>
          <p:nvPr/>
        </p:nvSpPr>
        <p:spPr>
          <a:xfrm>
            <a:off x="533520" y="2655000"/>
            <a:ext cx="1209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Rectangle 4"/>
          <p:cNvSpPr/>
          <p:nvPr/>
        </p:nvSpPr>
        <p:spPr>
          <a:xfrm>
            <a:off x="1743120" y="2655000"/>
            <a:ext cx="1310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Rectangle 5"/>
          <p:cNvSpPr/>
          <p:nvPr/>
        </p:nvSpPr>
        <p:spPr>
          <a:xfrm>
            <a:off x="3053880" y="2655000"/>
            <a:ext cx="1811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Rectangle 6"/>
          <p:cNvSpPr/>
          <p:nvPr/>
        </p:nvSpPr>
        <p:spPr>
          <a:xfrm>
            <a:off x="4866120" y="2655000"/>
            <a:ext cx="32601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Rectangle 7"/>
          <p:cNvSpPr/>
          <p:nvPr/>
        </p:nvSpPr>
        <p:spPr>
          <a:xfrm>
            <a:off x="8126640" y="2655000"/>
            <a:ext cx="35316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Rectangle 8"/>
          <p:cNvSpPr/>
          <p:nvPr/>
        </p:nvSpPr>
        <p:spPr>
          <a:xfrm>
            <a:off x="533520" y="3309840"/>
            <a:ext cx="1209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Rectangle 9"/>
          <p:cNvSpPr/>
          <p:nvPr/>
        </p:nvSpPr>
        <p:spPr>
          <a:xfrm>
            <a:off x="1743120" y="3309840"/>
            <a:ext cx="1310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Rectangle 10"/>
          <p:cNvSpPr/>
          <p:nvPr/>
        </p:nvSpPr>
        <p:spPr>
          <a:xfrm>
            <a:off x="3053880" y="3309840"/>
            <a:ext cx="1811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Rectangle 11"/>
          <p:cNvSpPr/>
          <p:nvPr/>
        </p:nvSpPr>
        <p:spPr>
          <a:xfrm>
            <a:off x="4866120" y="3309840"/>
            <a:ext cx="32601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Rectangle 12"/>
          <p:cNvSpPr/>
          <p:nvPr/>
        </p:nvSpPr>
        <p:spPr>
          <a:xfrm>
            <a:off x="8126640" y="3309840"/>
            <a:ext cx="35316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Rectangle 13"/>
          <p:cNvSpPr/>
          <p:nvPr/>
        </p:nvSpPr>
        <p:spPr>
          <a:xfrm>
            <a:off x="533520" y="3962520"/>
            <a:ext cx="1209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Rectangle 14"/>
          <p:cNvSpPr/>
          <p:nvPr/>
        </p:nvSpPr>
        <p:spPr>
          <a:xfrm>
            <a:off x="1743120" y="3962520"/>
            <a:ext cx="1310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Rectangle 15"/>
          <p:cNvSpPr/>
          <p:nvPr/>
        </p:nvSpPr>
        <p:spPr>
          <a:xfrm>
            <a:off x="3053880" y="3962520"/>
            <a:ext cx="1811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Rectangle 16"/>
          <p:cNvSpPr/>
          <p:nvPr/>
        </p:nvSpPr>
        <p:spPr>
          <a:xfrm>
            <a:off x="4866120" y="3962520"/>
            <a:ext cx="32601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Rectangle 17"/>
          <p:cNvSpPr/>
          <p:nvPr/>
        </p:nvSpPr>
        <p:spPr>
          <a:xfrm>
            <a:off x="8126640" y="3962520"/>
            <a:ext cx="35316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Rectangle 18"/>
          <p:cNvSpPr/>
          <p:nvPr/>
        </p:nvSpPr>
        <p:spPr>
          <a:xfrm>
            <a:off x="533520" y="4619520"/>
            <a:ext cx="1209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Rectangle 19"/>
          <p:cNvSpPr/>
          <p:nvPr/>
        </p:nvSpPr>
        <p:spPr>
          <a:xfrm>
            <a:off x="1743120" y="4619520"/>
            <a:ext cx="1310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Rectangle 20"/>
          <p:cNvSpPr/>
          <p:nvPr/>
        </p:nvSpPr>
        <p:spPr>
          <a:xfrm>
            <a:off x="3053880" y="4619520"/>
            <a:ext cx="18118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ectangle 21"/>
          <p:cNvSpPr/>
          <p:nvPr/>
        </p:nvSpPr>
        <p:spPr>
          <a:xfrm>
            <a:off x="4866120" y="4619520"/>
            <a:ext cx="32601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Rectangle 22"/>
          <p:cNvSpPr/>
          <p:nvPr/>
        </p:nvSpPr>
        <p:spPr>
          <a:xfrm>
            <a:off x="8126640" y="4619520"/>
            <a:ext cx="35316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40" name="Picture 23" descr="image.png"/>
          <p:cNvPicPr/>
          <p:nvPr/>
        </p:nvPicPr>
        <p:blipFill>
          <a:blip r:embed="rId2"/>
          <a:stretch/>
        </p:blipFill>
        <p:spPr>
          <a:xfrm>
            <a:off x="1895400" y="2887200"/>
            <a:ext cx="594360" cy="20916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24" descr="image.png"/>
          <p:cNvPicPr/>
          <p:nvPr/>
        </p:nvPicPr>
        <p:blipFill>
          <a:blip r:embed="rId3"/>
          <a:stretch/>
        </p:blipFill>
        <p:spPr>
          <a:xfrm>
            <a:off x="3206520" y="2783520"/>
            <a:ext cx="799920" cy="209160"/>
          </a:xfrm>
          <a:prstGeom prst="rect">
            <a:avLst/>
          </a:prstGeom>
          <a:ln w="0">
            <a:noFill/>
          </a:ln>
        </p:spPr>
      </p:pic>
      <p:pic>
        <p:nvPicPr>
          <p:cNvPr id="142" name="Picture 25" descr="image.png"/>
          <p:cNvPicPr/>
          <p:nvPr/>
        </p:nvPicPr>
        <p:blipFill>
          <a:blip r:embed="rId4"/>
          <a:stretch/>
        </p:blipFill>
        <p:spPr>
          <a:xfrm>
            <a:off x="1895400" y="3540960"/>
            <a:ext cx="1005840" cy="20916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26" descr="image.png"/>
          <p:cNvPicPr/>
          <p:nvPr/>
        </p:nvPicPr>
        <p:blipFill>
          <a:blip r:embed="rId5"/>
          <a:stretch/>
        </p:blipFill>
        <p:spPr>
          <a:xfrm>
            <a:off x="3206520" y="3540960"/>
            <a:ext cx="594360" cy="20916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27" descr="image.png"/>
          <p:cNvPicPr/>
          <p:nvPr/>
        </p:nvPicPr>
        <p:blipFill>
          <a:blip r:embed="rId6"/>
          <a:stretch/>
        </p:blipFill>
        <p:spPr>
          <a:xfrm>
            <a:off x="3867480" y="3540960"/>
            <a:ext cx="731160" cy="20916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28" descr="image.png"/>
          <p:cNvPicPr/>
          <p:nvPr/>
        </p:nvPicPr>
        <p:blipFill>
          <a:blip r:embed="rId7"/>
          <a:stretch/>
        </p:blipFill>
        <p:spPr>
          <a:xfrm>
            <a:off x="1895400" y="4195800"/>
            <a:ext cx="662760" cy="20916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29" descr="image.png"/>
          <p:cNvPicPr/>
          <p:nvPr/>
        </p:nvPicPr>
        <p:blipFill>
          <a:blip r:embed="rId8"/>
          <a:stretch/>
        </p:blipFill>
        <p:spPr>
          <a:xfrm>
            <a:off x="3206520" y="4091040"/>
            <a:ext cx="799920" cy="20916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30" descr="image.png"/>
          <p:cNvPicPr/>
          <p:nvPr/>
        </p:nvPicPr>
        <p:blipFill>
          <a:blip r:embed="rId9"/>
          <a:stretch/>
        </p:blipFill>
        <p:spPr>
          <a:xfrm>
            <a:off x="3206520" y="4300560"/>
            <a:ext cx="731160" cy="20916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31" descr="image.png"/>
          <p:cNvPicPr/>
          <p:nvPr/>
        </p:nvPicPr>
        <p:blipFill>
          <a:blip r:embed="rId10"/>
          <a:stretch/>
        </p:blipFill>
        <p:spPr>
          <a:xfrm>
            <a:off x="1895400" y="4851720"/>
            <a:ext cx="456840" cy="20916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32" descr="image.png"/>
          <p:cNvPicPr/>
          <p:nvPr/>
        </p:nvPicPr>
        <p:blipFill>
          <a:blip r:embed="rId11"/>
          <a:stretch/>
        </p:blipFill>
        <p:spPr>
          <a:xfrm>
            <a:off x="3206520" y="4748040"/>
            <a:ext cx="731160" cy="209160"/>
          </a:xfrm>
          <a:prstGeom prst="rect">
            <a:avLst/>
          </a:prstGeom>
          <a:ln w="0">
            <a:noFill/>
          </a:ln>
        </p:spPr>
      </p:pic>
      <p:sp>
        <p:nvSpPr>
          <p:cNvPr id="150" name="TextBox 33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Transactional &amp; Ledger Tables</a:t>
            </a:r>
            <a:endParaRPr b="0" lang="en-IN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52" name="Picture 2" descr="image.png"/>
          <p:cNvPicPr/>
          <p:nvPr/>
        </p:nvPicPr>
        <p:blipFill>
          <a:blip r:embed="rId2"/>
          <a:stretch/>
        </p:blipFill>
        <p:spPr>
          <a:xfrm>
            <a:off x="533520" y="1995480"/>
            <a:ext cx="5390640" cy="3504960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3" descr="image.png"/>
          <p:cNvPicPr/>
          <p:nvPr/>
        </p:nvPicPr>
        <p:blipFill>
          <a:blip r:embed="rId3"/>
          <a:stretch/>
        </p:blipFill>
        <p:spPr>
          <a:xfrm>
            <a:off x="6267600" y="1995480"/>
            <a:ext cx="5390640" cy="3504960"/>
          </a:xfrm>
          <a:prstGeom prst="rect">
            <a:avLst/>
          </a:prstGeom>
          <a:ln w="0">
            <a:noFill/>
          </a:ln>
        </p:spPr>
      </p:pic>
      <p:sp>
        <p:nvSpPr>
          <p:cNvPr id="154" name="TextBox 4"/>
          <p:cNvSpPr/>
          <p:nvPr/>
        </p:nvSpPr>
        <p:spPr>
          <a:xfrm>
            <a:off x="1200240" y="2316960"/>
            <a:ext cx="463032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650" spc="-1" strike="noStrike">
                <a:solidFill>
                  <a:srgbClr val="1d4ed8"/>
                </a:solidFill>
                <a:latin typeface="Space Grotesk"/>
              </a:rPr>
              <a:t>Products: The Live State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847800" y="2728800"/>
            <a:ext cx="4762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Represents the exact physical count available for immediate sale at the current second.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6877080" y="2316960"/>
            <a:ext cx="46900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650" spc="-1" strike="noStrike">
                <a:solidFill>
                  <a:srgbClr val="1d4ed8"/>
                </a:solidFill>
                <a:latin typeface="Space Grotesk"/>
              </a:rPr>
              <a:t>InventoryLog: The Ledger</a:t>
            </a:r>
            <a:endParaRPr b="0" lang="en-IN" sz="1650" spc="-1" strike="noStrike">
              <a:latin typeface="Arial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6581880" y="2728800"/>
            <a:ext cx="4762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Acts as an append-only financial journal reflecting every inventory delta over time.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58" name="Picture 8" descr="image.png"/>
          <p:cNvPicPr/>
          <p:nvPr/>
        </p:nvPicPr>
        <p:blipFill>
          <a:blip r:embed="rId4"/>
          <a:stretch/>
        </p:blipFill>
        <p:spPr>
          <a:xfrm>
            <a:off x="847800" y="2338560"/>
            <a:ext cx="237600" cy="209160"/>
          </a:xfrm>
          <a:prstGeom prst="rect">
            <a:avLst/>
          </a:prstGeom>
          <a:ln w="0">
            <a:noFill/>
          </a:ln>
        </p:spPr>
      </p:pic>
      <p:sp>
        <p:nvSpPr>
          <p:cNvPr id="159" name="TextBox 9"/>
          <p:cNvSpPr/>
          <p:nvPr/>
        </p:nvSpPr>
        <p:spPr>
          <a:xfrm>
            <a:off x="981000" y="330048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1038240" y="3300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Mutable Value: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StockQuantity is directly updated whenever an order is submitted or restocked.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1" name="TextBox 11"/>
          <p:cNvSpPr/>
          <p:nvPr/>
        </p:nvSpPr>
        <p:spPr>
          <a:xfrm>
            <a:off x="981000" y="385272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1038240" y="38527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Concurrency Gate: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Protected by CHECK (StockQuantity ≥ 0), preventing over-selling in race conditions.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981000" y="440532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1038240" y="4405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Fast Lookups: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Allows instantaneous availability queries for user checkout flows without aggregating past history.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65" name="Picture 15" descr="image.png"/>
          <p:cNvPicPr/>
          <p:nvPr/>
        </p:nvPicPr>
        <p:blipFill>
          <a:blip r:embed="rId5"/>
          <a:stretch/>
        </p:blipFill>
        <p:spPr>
          <a:xfrm>
            <a:off x="6581880" y="2338560"/>
            <a:ext cx="180720" cy="209160"/>
          </a:xfrm>
          <a:prstGeom prst="rect">
            <a:avLst/>
          </a:prstGeom>
          <a:ln w="0">
            <a:noFill/>
          </a:ln>
        </p:spPr>
      </p:pic>
      <p:sp>
        <p:nvSpPr>
          <p:cNvPr id="166" name="TextBox 16"/>
          <p:cNvSpPr/>
          <p:nvPr/>
        </p:nvSpPr>
        <p:spPr>
          <a:xfrm>
            <a:off x="6715080" y="330048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TextBox 17"/>
          <p:cNvSpPr/>
          <p:nvPr/>
        </p:nvSpPr>
        <p:spPr>
          <a:xfrm>
            <a:off x="6772320" y="3300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Immutable Rows: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Existing log rows are never updated or deleted; each adjustment is recorded as a signed integer.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Box 18"/>
          <p:cNvSpPr/>
          <p:nvPr/>
        </p:nvSpPr>
        <p:spPr>
          <a:xfrm>
            <a:off x="6715080" y="385272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9" name="TextBox 19"/>
          <p:cNvSpPr/>
          <p:nvPr/>
        </p:nvSpPr>
        <p:spPr>
          <a:xfrm>
            <a:off x="6772320" y="38527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Delta Attribution: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Deductions record negative deltas (e.g. -2) along with Order references.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TextBox 20"/>
          <p:cNvSpPr/>
          <p:nvPr/>
        </p:nvSpPr>
        <p:spPr>
          <a:xfrm>
            <a:off x="6715080" y="4405320"/>
            <a:ext cx="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•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1" name="TextBox 21"/>
          <p:cNvSpPr/>
          <p:nvPr/>
        </p:nvSpPr>
        <p:spPr>
          <a:xfrm>
            <a:off x="6772320" y="440532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334155"/>
                </a:solidFill>
                <a:latin typeface="DM Sans"/>
              </a:rPr>
              <a:t>Discrepancy Audits: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Comparing the sum of InventoryLog.Adjustment against StockQuantity validates data integrity.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2" name="TextBox 22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Live State vs. Immutable Ledger</a:t>
            </a:r>
            <a:endParaRPr b="0" lang="en-IN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2" descr="image.png"/>
          <p:cNvPicPr/>
          <p:nvPr/>
        </p:nvPicPr>
        <p:blipFill>
          <a:blip r:embed="rId2"/>
          <a:stretch/>
        </p:blipFill>
        <p:spPr>
          <a:xfrm>
            <a:off x="533520" y="2466360"/>
            <a:ext cx="2609640" cy="2562480"/>
          </a:xfrm>
          <a:prstGeom prst="rect">
            <a:avLst/>
          </a:prstGeom>
          <a:ln w="0">
            <a:noFill/>
          </a:ln>
        </p:spPr>
      </p:pic>
      <p:pic>
        <p:nvPicPr>
          <p:cNvPr id="175" name="Picture 3" descr="image.png"/>
          <p:cNvPicPr/>
          <p:nvPr/>
        </p:nvPicPr>
        <p:blipFill>
          <a:blip r:embed="rId3"/>
          <a:stretch/>
        </p:blipFill>
        <p:spPr>
          <a:xfrm>
            <a:off x="3371760" y="2466360"/>
            <a:ext cx="2609640" cy="2562480"/>
          </a:xfrm>
          <a:prstGeom prst="rect">
            <a:avLst/>
          </a:prstGeom>
          <a:ln w="0">
            <a:noFill/>
          </a:ln>
        </p:spPr>
      </p:pic>
      <p:pic>
        <p:nvPicPr>
          <p:cNvPr id="176" name="Picture 4" descr="image.png"/>
          <p:cNvPicPr/>
          <p:nvPr/>
        </p:nvPicPr>
        <p:blipFill>
          <a:blip r:embed="rId4"/>
          <a:stretch/>
        </p:blipFill>
        <p:spPr>
          <a:xfrm>
            <a:off x="6210360" y="2466360"/>
            <a:ext cx="2609640" cy="2562480"/>
          </a:xfrm>
          <a:prstGeom prst="rect">
            <a:avLst/>
          </a:prstGeom>
          <a:ln w="0">
            <a:noFill/>
          </a:ln>
        </p:spPr>
      </p:pic>
      <p:pic>
        <p:nvPicPr>
          <p:cNvPr id="177" name="Picture 5" descr="image.png"/>
          <p:cNvPicPr/>
          <p:nvPr/>
        </p:nvPicPr>
        <p:blipFill>
          <a:blip r:embed="rId5"/>
          <a:stretch/>
        </p:blipFill>
        <p:spPr>
          <a:xfrm>
            <a:off x="9048600" y="2466360"/>
            <a:ext cx="2609640" cy="256248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6" descr="image.png"/>
          <p:cNvPicPr/>
          <p:nvPr/>
        </p:nvPicPr>
        <p:blipFill>
          <a:blip r:embed="rId6"/>
          <a:stretch/>
        </p:blipFill>
        <p:spPr>
          <a:xfrm>
            <a:off x="771480" y="274284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179" name="TextBox 7"/>
          <p:cNvSpPr/>
          <p:nvPr/>
        </p:nvSpPr>
        <p:spPr>
          <a:xfrm>
            <a:off x="771480" y="3409560"/>
            <a:ext cx="14497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Space Grotesk"/>
              </a:rPr>
              <a:t>1. Order Placed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771480" y="3752280"/>
            <a:ext cx="213336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576"/>
              </a:lnSpc>
            </a:pPr>
            <a:r>
              <a:rPr b="0" lang="en-US" sz="1090" spc="-1" strike="noStrike">
                <a:solidFill>
                  <a:srgbClr val="475569"/>
                </a:solidFill>
                <a:latin typeface="DM Sans"/>
              </a:rPr>
              <a:t>Customer checkout inserts a new item row into OrderDetails with a verified Quantity and UnitPrice.</a:t>
            </a:r>
            <a:endParaRPr b="0" lang="en-IN" sz="1090" spc="-1" strike="noStrike">
              <a:latin typeface="Arial"/>
            </a:endParaRPr>
          </a:p>
        </p:txBody>
      </p:sp>
      <p:pic>
        <p:nvPicPr>
          <p:cNvPr id="181" name="Picture 9" descr="image.png"/>
          <p:cNvPicPr/>
          <p:nvPr/>
        </p:nvPicPr>
        <p:blipFill>
          <a:blip r:embed="rId7"/>
          <a:stretch/>
        </p:blipFill>
        <p:spPr>
          <a:xfrm>
            <a:off x="3610080" y="274284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182" name="TextBox 10"/>
          <p:cNvSpPr/>
          <p:nvPr/>
        </p:nvSpPr>
        <p:spPr>
          <a:xfrm>
            <a:off x="3610080" y="3409560"/>
            <a:ext cx="14198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Space Grotesk"/>
              </a:rPr>
              <a:t>2. Trigger Fires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3" name="TextBox 11"/>
          <p:cNvSpPr/>
          <p:nvPr/>
        </p:nvSpPr>
        <p:spPr>
          <a:xfrm>
            <a:off x="3610080" y="3752280"/>
            <a:ext cx="2133360" cy="80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576"/>
              </a:lnSpc>
            </a:pPr>
            <a:r>
              <a:rPr b="0" lang="en-US" sz="1090" spc="-1" strike="noStrike">
                <a:solidFill>
                  <a:srgbClr val="475569"/>
                </a:solidFill>
                <a:latin typeface="DM Sans"/>
              </a:rPr>
              <a:t>After_New_Order_Placed activates atomically AFTER INSERT on each individual line item row.</a:t>
            </a:r>
            <a:endParaRPr b="0" lang="en-IN" sz="1090" spc="-1" strike="noStrike">
              <a:latin typeface="Arial"/>
            </a:endParaRPr>
          </a:p>
        </p:txBody>
      </p:sp>
      <p:pic>
        <p:nvPicPr>
          <p:cNvPr id="184" name="Picture 12" descr="image.png"/>
          <p:cNvPicPr/>
          <p:nvPr/>
        </p:nvPicPr>
        <p:blipFill>
          <a:blip r:embed="rId8"/>
          <a:stretch/>
        </p:blipFill>
        <p:spPr>
          <a:xfrm>
            <a:off x="6448320" y="274284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185" name="TextBox 13"/>
          <p:cNvSpPr/>
          <p:nvPr/>
        </p:nvSpPr>
        <p:spPr>
          <a:xfrm>
            <a:off x="6448320" y="3409560"/>
            <a:ext cx="178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Space Grotesk"/>
              </a:rPr>
              <a:t>3. Stock Deducted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6" name="TextBox 14"/>
          <p:cNvSpPr/>
          <p:nvPr/>
        </p:nvSpPr>
        <p:spPr>
          <a:xfrm>
            <a:off x="6448320" y="3752280"/>
            <a:ext cx="2133360" cy="80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576"/>
              </a:lnSpc>
            </a:pPr>
            <a:r>
              <a:rPr b="0" lang="en-US" sz="1090" spc="-1" strike="noStrike">
                <a:solidFill>
                  <a:srgbClr val="475569"/>
                </a:solidFill>
                <a:latin typeface="DM Sans"/>
              </a:rPr>
              <a:t>The trigger updates Products, subtracting NEW.Quantity from StockQuantity where ProductID = NEW.ProductID.</a:t>
            </a:r>
            <a:endParaRPr b="0" lang="en-IN" sz="1090" spc="-1" strike="noStrike">
              <a:latin typeface="Arial"/>
            </a:endParaRPr>
          </a:p>
        </p:txBody>
      </p:sp>
      <p:pic>
        <p:nvPicPr>
          <p:cNvPr id="187" name="Picture 15" descr="image.png"/>
          <p:cNvPicPr/>
          <p:nvPr/>
        </p:nvPicPr>
        <p:blipFill>
          <a:blip r:embed="rId9"/>
          <a:stretch/>
        </p:blipFill>
        <p:spPr>
          <a:xfrm>
            <a:off x="9286920" y="2742840"/>
            <a:ext cx="495000" cy="495000"/>
          </a:xfrm>
          <a:prstGeom prst="rect">
            <a:avLst/>
          </a:prstGeom>
          <a:ln w="0">
            <a:noFill/>
          </a:ln>
        </p:spPr>
      </p:pic>
      <p:sp>
        <p:nvSpPr>
          <p:cNvPr id="188" name="TextBox 16"/>
          <p:cNvSpPr/>
          <p:nvPr/>
        </p:nvSpPr>
        <p:spPr>
          <a:xfrm>
            <a:off x="9286920" y="3409560"/>
            <a:ext cx="1649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Space Grotesk"/>
              </a:rPr>
              <a:t>4. Log Appended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9286920" y="3752280"/>
            <a:ext cx="2133360" cy="10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576"/>
              </a:lnSpc>
            </a:pPr>
            <a:r>
              <a:rPr b="0" lang="en-US" sz="1090" spc="-1" strike="noStrike">
                <a:solidFill>
                  <a:srgbClr val="475569"/>
                </a:solidFill>
                <a:latin typeface="DM Sans"/>
              </a:rPr>
              <a:t>An audit entry is written to InventoryLog storing -NEW.Quantity and reason CONCAT('Sold on Order #', NEW.OrderID).</a:t>
            </a:r>
            <a:endParaRPr b="0" lang="en-IN" sz="1090" spc="-1" strike="noStrike">
              <a:latin typeface="Arial"/>
            </a:endParaRPr>
          </a:p>
        </p:txBody>
      </p:sp>
      <p:pic>
        <p:nvPicPr>
          <p:cNvPr id="190" name="Picture 18" descr="image.png"/>
          <p:cNvPicPr/>
          <p:nvPr/>
        </p:nvPicPr>
        <p:blipFill>
          <a:blip r:embed="rId10"/>
          <a:stretch/>
        </p:blipFill>
        <p:spPr>
          <a:xfrm>
            <a:off x="880920" y="2866680"/>
            <a:ext cx="275760" cy="247320"/>
          </a:xfrm>
          <a:prstGeom prst="rect">
            <a:avLst/>
          </a:prstGeom>
          <a:ln w="0">
            <a:noFill/>
          </a:ln>
        </p:spPr>
      </p:pic>
      <p:pic>
        <p:nvPicPr>
          <p:cNvPr id="191" name="Picture 19" descr="image.png"/>
          <p:cNvPicPr/>
          <p:nvPr/>
        </p:nvPicPr>
        <p:blipFill>
          <a:blip r:embed="rId11"/>
          <a:stretch/>
        </p:blipFill>
        <p:spPr>
          <a:xfrm>
            <a:off x="3747960" y="2866680"/>
            <a:ext cx="218880" cy="247320"/>
          </a:xfrm>
          <a:prstGeom prst="rect">
            <a:avLst/>
          </a:prstGeom>
          <a:ln w="0">
            <a:noFill/>
          </a:ln>
        </p:spPr>
      </p:pic>
      <p:pic>
        <p:nvPicPr>
          <p:cNvPr id="192" name="Picture 20" descr="image.png"/>
          <p:cNvPicPr/>
          <p:nvPr/>
        </p:nvPicPr>
        <p:blipFill>
          <a:blip r:embed="rId12"/>
          <a:stretch/>
        </p:blipFill>
        <p:spPr>
          <a:xfrm>
            <a:off x="6572160" y="2866680"/>
            <a:ext cx="247320" cy="247320"/>
          </a:xfrm>
          <a:prstGeom prst="rect">
            <a:avLst/>
          </a:prstGeom>
          <a:ln w="0">
            <a:noFill/>
          </a:ln>
        </p:spPr>
      </p:pic>
      <p:pic>
        <p:nvPicPr>
          <p:cNvPr id="193" name="Picture 21" descr="image.png"/>
          <p:cNvPicPr/>
          <p:nvPr/>
        </p:nvPicPr>
        <p:blipFill>
          <a:blip r:embed="rId13"/>
          <a:stretch/>
        </p:blipFill>
        <p:spPr>
          <a:xfrm>
            <a:off x="9439200" y="2866680"/>
            <a:ext cx="190080" cy="247320"/>
          </a:xfrm>
          <a:prstGeom prst="rect">
            <a:avLst/>
          </a:prstGeom>
          <a:ln w="0">
            <a:noFill/>
          </a:ln>
        </p:spPr>
      </p:pic>
      <p:sp>
        <p:nvSpPr>
          <p:cNvPr id="194" name="TextBox 22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Automated Inventory Trigger Flow</a:t>
            </a:r>
            <a:endParaRPr b="0" lang="en-IN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96" name="Picture 2" descr="image.png"/>
          <p:cNvPicPr/>
          <p:nvPr/>
        </p:nvPicPr>
        <p:blipFill>
          <a:blip r:embed="rId2"/>
          <a:stretch/>
        </p:blipFill>
        <p:spPr>
          <a:xfrm>
            <a:off x="533520" y="2738520"/>
            <a:ext cx="4297320" cy="2018880"/>
          </a:xfrm>
          <a:prstGeom prst="rect">
            <a:avLst/>
          </a:prstGeom>
          <a:ln w="0">
            <a:noFill/>
          </a:ln>
        </p:spPr>
      </p:pic>
      <p:sp>
        <p:nvSpPr>
          <p:cNvPr id="197" name="TextBox 3"/>
          <p:cNvSpPr/>
          <p:nvPr/>
        </p:nvSpPr>
        <p:spPr>
          <a:xfrm>
            <a:off x="771480" y="3129120"/>
            <a:ext cx="382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7200"/>
              </a:lnSpc>
            </a:pPr>
            <a:r>
              <a:rPr b="1" lang="en-US" sz="7200" spc="-1" strike="noStrike">
                <a:solidFill>
                  <a:srgbClr val="1d4ed8"/>
                </a:solidFill>
                <a:latin typeface="Space Grotesk"/>
              </a:rPr>
              <a:t>7</a:t>
            </a:r>
            <a:endParaRPr b="0" lang="en-IN" sz="7200" spc="-1" strike="noStrike">
              <a:latin typeface="Arial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771480" y="4119480"/>
            <a:ext cx="38210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e293b"/>
                </a:solidFill>
                <a:latin typeface="DM Sans"/>
              </a:rPr>
              <a:t>Enforced Constraints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5212080" y="1447920"/>
            <a:ext cx="676872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410" spc="-1" strike="noStrike">
                <a:solidFill>
                  <a:srgbClr val="0f172a"/>
                </a:solidFill>
                <a:latin typeface="Space Grotesk"/>
              </a:rPr>
              <a:t>Database-Engine Level Enforcement</a:t>
            </a:r>
            <a:endParaRPr b="0" lang="en-IN" sz="1410" spc="-1" strike="noStrike">
              <a:latin typeface="Arial"/>
            </a:endParaRPr>
          </a:p>
        </p:txBody>
      </p:sp>
      <p:sp>
        <p:nvSpPr>
          <p:cNvPr id="200" name="TextBox 6"/>
          <p:cNvSpPr/>
          <p:nvPr/>
        </p:nvSpPr>
        <p:spPr>
          <a:xfrm>
            <a:off x="5212080" y="1666800"/>
            <a:ext cx="6446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To eliminate reliance on application-layer logic, business invariants are hardcoded directly into table definitions: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Rounded Rectangle 7"/>
          <p:cNvSpPr/>
          <p:nvPr/>
        </p:nvSpPr>
        <p:spPr>
          <a:xfrm>
            <a:off x="5212080" y="2238480"/>
            <a:ext cx="644616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TextBox 8"/>
          <p:cNvSpPr/>
          <p:nvPr/>
        </p:nvSpPr>
        <p:spPr>
          <a:xfrm>
            <a:off x="5783400" y="2409840"/>
            <a:ext cx="5646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Financial Boundary: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TotalAmount ≥ 0 and Price &gt; 0 prevent negative currency values.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3" name="Rounded Rectangle 9"/>
          <p:cNvSpPr/>
          <p:nvPr/>
        </p:nvSpPr>
        <p:spPr>
          <a:xfrm>
            <a:off x="5212080" y="3191040"/>
            <a:ext cx="644616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TextBox 10"/>
          <p:cNvSpPr/>
          <p:nvPr/>
        </p:nvSpPr>
        <p:spPr>
          <a:xfrm>
            <a:off x="5783400" y="3362400"/>
            <a:ext cx="5646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Stock Depletion Wall: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StockQuantity ≥ 0 prevents inventory sub-zero anomalies.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5" name="Rounded Rectangle 11"/>
          <p:cNvSpPr/>
          <p:nvPr/>
        </p:nvSpPr>
        <p:spPr>
          <a:xfrm>
            <a:off x="5212080" y="4143240"/>
            <a:ext cx="644616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TextBox 12"/>
          <p:cNvSpPr/>
          <p:nvPr/>
        </p:nvSpPr>
        <p:spPr>
          <a:xfrm>
            <a:off x="5783400" y="4314960"/>
            <a:ext cx="5646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Rating Guardrail: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Rating BETWEEN 1 AND 5 enforces valid qualitative metrics.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7" name="Rounded Rectangle 13"/>
          <p:cNvSpPr/>
          <p:nvPr/>
        </p:nvSpPr>
        <p:spPr>
          <a:xfrm>
            <a:off x="5212080" y="5095800"/>
            <a:ext cx="644616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8" name="TextBox 14"/>
          <p:cNvSpPr/>
          <p:nvPr/>
        </p:nvSpPr>
        <p:spPr>
          <a:xfrm>
            <a:off x="5783400" y="5267160"/>
            <a:ext cx="5646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Anti-Spam Uniqueness: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UNIQUE (CustomerID, ProductID) restricts one review per product.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9" name="Rectangle 15"/>
          <p:cNvSpPr/>
          <p:nvPr/>
        </p:nvSpPr>
        <p:spPr>
          <a:xfrm>
            <a:off x="5212080" y="3048120"/>
            <a:ext cx="64461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0" name="Rectangle 16"/>
          <p:cNvSpPr/>
          <p:nvPr/>
        </p:nvSpPr>
        <p:spPr>
          <a:xfrm>
            <a:off x="5212080" y="4000680"/>
            <a:ext cx="64461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Rectangle 17"/>
          <p:cNvSpPr/>
          <p:nvPr/>
        </p:nvSpPr>
        <p:spPr>
          <a:xfrm>
            <a:off x="5212080" y="4952880"/>
            <a:ext cx="64461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Rectangle 18"/>
          <p:cNvSpPr/>
          <p:nvPr/>
        </p:nvSpPr>
        <p:spPr>
          <a:xfrm>
            <a:off x="5212080" y="5905440"/>
            <a:ext cx="64461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13" name="Picture 19" descr="image.png"/>
          <p:cNvPicPr/>
          <p:nvPr/>
        </p:nvPicPr>
        <p:blipFill>
          <a:blip r:embed="rId3"/>
          <a:stretch/>
        </p:blipFill>
        <p:spPr>
          <a:xfrm>
            <a:off x="5411880" y="243360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214" name="Picture 20" descr="image.png"/>
          <p:cNvPicPr/>
          <p:nvPr/>
        </p:nvPicPr>
        <p:blipFill>
          <a:blip r:embed="rId4"/>
          <a:stretch/>
        </p:blipFill>
        <p:spPr>
          <a:xfrm>
            <a:off x="5411880" y="338616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215" name="Picture 21" descr="image.png"/>
          <p:cNvPicPr/>
          <p:nvPr/>
        </p:nvPicPr>
        <p:blipFill>
          <a:blip r:embed="rId5"/>
          <a:stretch/>
        </p:blipFill>
        <p:spPr>
          <a:xfrm>
            <a:off x="5411880" y="4338720"/>
            <a:ext cx="218880" cy="199800"/>
          </a:xfrm>
          <a:prstGeom prst="rect">
            <a:avLst/>
          </a:prstGeom>
          <a:ln w="0">
            <a:noFill/>
          </a:ln>
        </p:spPr>
      </p:pic>
      <p:pic>
        <p:nvPicPr>
          <p:cNvPr id="216" name="Picture 22" descr="image.png"/>
          <p:cNvPicPr/>
          <p:nvPr/>
        </p:nvPicPr>
        <p:blipFill>
          <a:blip r:embed="rId6"/>
          <a:stretch/>
        </p:blipFill>
        <p:spPr>
          <a:xfrm>
            <a:off x="5411880" y="5291280"/>
            <a:ext cx="237600" cy="199800"/>
          </a:xfrm>
          <a:prstGeom prst="rect">
            <a:avLst/>
          </a:prstGeom>
          <a:ln w="0">
            <a:noFill/>
          </a:ln>
        </p:spPr>
      </p:pic>
      <p:sp>
        <p:nvSpPr>
          <p:cNvPr id="217" name="TextBox 23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Strict Data Integrity Safeguards</a:t>
            </a:r>
            <a:endParaRPr b="0" lang="en-IN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19" name="Table 2"/>
          <p:cNvGraphicFramePr/>
          <p:nvPr/>
        </p:nvGraphicFramePr>
        <p:xfrm>
          <a:off x="533520" y="2187000"/>
          <a:ext cx="11124720" cy="3121560"/>
        </p:xfrm>
        <a:graphic>
          <a:graphicData uri="http://schemas.openxmlformats.org/drawingml/2006/table">
            <a:tbl>
              <a:tblPr/>
              <a:tblGrid>
                <a:gridCol w="1816560"/>
                <a:gridCol w="5612040"/>
                <a:gridCol w="3696120"/>
              </a:tblGrid>
              <a:tr h="4456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Table Context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Sample Record Data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30" spc="-1" strike="noStrike">
                          <a:solidFill>
                            <a:srgbClr val="0f172a"/>
                          </a:solidFill>
                          <a:latin typeface="Space Grotesk"/>
                        </a:rPr>
                        <a:t>Computed / Trigger Output</a:t>
                      </a:r>
                      <a:endParaRPr b="0" lang="en-IN" sz="113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456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Customer #1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John Doe (DOB: 1982-05-14), 104 Market Blvd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Primary Customer Identity Key assigned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4456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Product #101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Pro Wireless Headset | Price: $120.00 | Cost: $75.00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Initial Stock: 50 units (Reorder: 10)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4456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Order #5001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Customer: 1 | Date: 2026-09-15 | Status: Completed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Generated UUID Tracking Number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4456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OrderDetails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Order: 5001 | Product: 101 | Qty: 2 | Price: $120.00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LineTotal = $240.00 (STORED)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4456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Products Result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ProductID 101 updated after trigger execution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StockQuantity: 50 → 48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44748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InventoryLog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ProductID: 101 | Adjustment: -2 | Reason: 'Sold on Order #5001'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90" spc="-1" strike="noStrike">
                          <a:solidFill>
                            <a:srgbClr val="334155"/>
                          </a:solidFill>
                          <a:latin typeface="DM Sans"/>
                        </a:rPr>
                        <a:t>Audit Trail Appended</a:t>
                      </a:r>
                      <a:endParaRPr b="0" lang="en-IN" sz="109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0" name="Rectangle 3"/>
          <p:cNvSpPr/>
          <p:nvPr/>
        </p:nvSpPr>
        <p:spPr>
          <a:xfrm>
            <a:off x="533520" y="2625480"/>
            <a:ext cx="1816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Rectangle 4"/>
          <p:cNvSpPr/>
          <p:nvPr/>
        </p:nvSpPr>
        <p:spPr>
          <a:xfrm>
            <a:off x="2350080" y="2625480"/>
            <a:ext cx="5612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Rectangle 5"/>
          <p:cNvSpPr/>
          <p:nvPr/>
        </p:nvSpPr>
        <p:spPr>
          <a:xfrm>
            <a:off x="7962480" y="2625480"/>
            <a:ext cx="369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Rectangle 6"/>
          <p:cNvSpPr/>
          <p:nvPr/>
        </p:nvSpPr>
        <p:spPr>
          <a:xfrm>
            <a:off x="533520" y="3070800"/>
            <a:ext cx="1816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Rectangle 7"/>
          <p:cNvSpPr/>
          <p:nvPr/>
        </p:nvSpPr>
        <p:spPr>
          <a:xfrm>
            <a:off x="2350080" y="3070800"/>
            <a:ext cx="5612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Rectangle 8"/>
          <p:cNvSpPr/>
          <p:nvPr/>
        </p:nvSpPr>
        <p:spPr>
          <a:xfrm>
            <a:off x="7962480" y="3070800"/>
            <a:ext cx="369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Rectangle 9"/>
          <p:cNvSpPr/>
          <p:nvPr/>
        </p:nvSpPr>
        <p:spPr>
          <a:xfrm>
            <a:off x="533520" y="3515760"/>
            <a:ext cx="1816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Rectangle 10"/>
          <p:cNvSpPr/>
          <p:nvPr/>
        </p:nvSpPr>
        <p:spPr>
          <a:xfrm>
            <a:off x="2350080" y="3515760"/>
            <a:ext cx="5612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Rectangle 11"/>
          <p:cNvSpPr/>
          <p:nvPr/>
        </p:nvSpPr>
        <p:spPr>
          <a:xfrm>
            <a:off x="7962480" y="3515760"/>
            <a:ext cx="369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9" name="Rectangle 12"/>
          <p:cNvSpPr/>
          <p:nvPr/>
        </p:nvSpPr>
        <p:spPr>
          <a:xfrm>
            <a:off x="533520" y="3961080"/>
            <a:ext cx="1816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Rectangle 13"/>
          <p:cNvSpPr/>
          <p:nvPr/>
        </p:nvSpPr>
        <p:spPr>
          <a:xfrm>
            <a:off x="2350080" y="3961080"/>
            <a:ext cx="5612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1" name="Rectangle 14"/>
          <p:cNvSpPr/>
          <p:nvPr/>
        </p:nvSpPr>
        <p:spPr>
          <a:xfrm>
            <a:off x="7962480" y="3961080"/>
            <a:ext cx="369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Rectangle 15"/>
          <p:cNvSpPr/>
          <p:nvPr/>
        </p:nvSpPr>
        <p:spPr>
          <a:xfrm>
            <a:off x="533520" y="4408920"/>
            <a:ext cx="1816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Rectangle 16"/>
          <p:cNvSpPr/>
          <p:nvPr/>
        </p:nvSpPr>
        <p:spPr>
          <a:xfrm>
            <a:off x="2350080" y="4408920"/>
            <a:ext cx="5612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Rectangle 17"/>
          <p:cNvSpPr/>
          <p:nvPr/>
        </p:nvSpPr>
        <p:spPr>
          <a:xfrm>
            <a:off x="7962480" y="4408920"/>
            <a:ext cx="369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5" name="Rectangle 18"/>
          <p:cNvSpPr/>
          <p:nvPr/>
        </p:nvSpPr>
        <p:spPr>
          <a:xfrm>
            <a:off x="533520" y="4856400"/>
            <a:ext cx="1816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Rectangle 19"/>
          <p:cNvSpPr/>
          <p:nvPr/>
        </p:nvSpPr>
        <p:spPr>
          <a:xfrm>
            <a:off x="2350080" y="4856400"/>
            <a:ext cx="5612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Rectangle 20"/>
          <p:cNvSpPr/>
          <p:nvPr/>
        </p:nvSpPr>
        <p:spPr>
          <a:xfrm>
            <a:off x="7962480" y="4856400"/>
            <a:ext cx="369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38" name="Picture 21" descr="image.png"/>
          <p:cNvPicPr/>
          <p:nvPr/>
        </p:nvPicPr>
        <p:blipFill>
          <a:blip r:embed="rId2"/>
          <a:stretch/>
        </p:blipFill>
        <p:spPr>
          <a:xfrm>
            <a:off x="8114760" y="4089960"/>
            <a:ext cx="2034720" cy="209160"/>
          </a:xfrm>
          <a:prstGeom prst="rect">
            <a:avLst/>
          </a:prstGeom>
          <a:ln w="0">
            <a:noFill/>
          </a:ln>
        </p:spPr>
      </p:pic>
      <p:pic>
        <p:nvPicPr>
          <p:cNvPr id="239" name="Picture 22" descr="image.png"/>
          <p:cNvPicPr/>
          <p:nvPr/>
        </p:nvPicPr>
        <p:blipFill>
          <a:blip r:embed="rId3"/>
          <a:stretch/>
        </p:blipFill>
        <p:spPr>
          <a:xfrm>
            <a:off x="8114760" y="4537440"/>
            <a:ext cx="1668600" cy="209160"/>
          </a:xfrm>
          <a:prstGeom prst="rect">
            <a:avLst/>
          </a:prstGeom>
          <a:ln w="0">
            <a:noFill/>
          </a:ln>
        </p:spPr>
      </p:pic>
      <p:pic>
        <p:nvPicPr>
          <p:cNvPr id="240" name="Picture 23" descr="image.png"/>
          <p:cNvPicPr/>
          <p:nvPr/>
        </p:nvPicPr>
        <p:blipFill>
          <a:blip r:embed="rId4"/>
          <a:stretch/>
        </p:blipFill>
        <p:spPr>
          <a:xfrm>
            <a:off x="8114760" y="4985280"/>
            <a:ext cx="1485720" cy="209160"/>
          </a:xfrm>
          <a:prstGeom prst="rect">
            <a:avLst/>
          </a:prstGeom>
          <a:ln w="0">
            <a:noFill/>
          </a:ln>
        </p:spPr>
      </p:pic>
      <p:sp>
        <p:nvSpPr>
          <p:cNvPr id="241" name="TextBox 24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Populated Operational Data</a:t>
            </a:r>
            <a:endParaRPr b="0" lang="en-IN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43" name="Rounded Rectangle 2"/>
          <p:cNvSpPr/>
          <p:nvPr/>
        </p:nvSpPr>
        <p:spPr>
          <a:xfrm>
            <a:off x="533520" y="1843200"/>
            <a:ext cx="1112472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4" name="TextBox 3"/>
          <p:cNvSpPr/>
          <p:nvPr/>
        </p:nvSpPr>
        <p:spPr>
          <a:xfrm>
            <a:off x="1104840" y="2014560"/>
            <a:ext cx="103248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Customer Lifetime Value &amp; Age Filtering: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Querying customers older than 40 with lifetime expenditures exceeding target thresholds by joining Customers, Orders, and OrderDetails.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Rounded Rectangle 4"/>
          <p:cNvSpPr/>
          <p:nvPr/>
        </p:nvSpPr>
        <p:spPr>
          <a:xfrm>
            <a:off x="533520" y="2795760"/>
            <a:ext cx="1112472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TextBox 5"/>
          <p:cNvSpPr/>
          <p:nvPr/>
        </p:nvSpPr>
        <p:spPr>
          <a:xfrm>
            <a:off x="1104840" y="2967120"/>
            <a:ext cx="103248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Automated Reorder Threshold Alerts: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Identifying products where StockQuantity ≤ ReorderLevel combined with supplier delivery performance ratings to trigger immediate purchase orders.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7" name="Rounded Rectangle 6"/>
          <p:cNvSpPr/>
          <p:nvPr/>
        </p:nvSpPr>
        <p:spPr>
          <a:xfrm>
            <a:off x="533520" y="3747960"/>
            <a:ext cx="1112472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TextBox 7"/>
          <p:cNvSpPr/>
          <p:nvPr/>
        </p:nvSpPr>
        <p:spPr>
          <a:xfrm>
            <a:off x="1104840" y="3919680"/>
            <a:ext cx="103248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Inventory Reconciliation View: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Cross-checking live Products.StockQuantity against historical SUM(InventoryLog.Adjustment) to pinpoint shrinkage or stock discrepancies.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9" name="Rounded Rectangle 8"/>
          <p:cNvSpPr/>
          <p:nvPr/>
        </p:nvSpPr>
        <p:spPr>
          <a:xfrm>
            <a:off x="533520" y="4700520"/>
            <a:ext cx="11124720" cy="81864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TextBox 9"/>
          <p:cNvSpPr/>
          <p:nvPr/>
        </p:nvSpPr>
        <p:spPr>
          <a:xfrm>
            <a:off x="1104840" y="4871880"/>
            <a:ext cx="103248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DM Sans"/>
              </a:rPr>
              <a:t>Product Sentiment &amp; Sales Matrix:</a:t>
            </a:r>
            <a:r>
              <a:rPr b="0" lang="en-US" sz="1200" spc="-1" strike="noStrike">
                <a:solidFill>
                  <a:srgbClr val="334155"/>
                </a:solidFill>
                <a:latin typeface="DM Sans"/>
              </a:rPr>
              <a:t> Correlating customer ratings from Reviews against sales volume in OrderDetails to detect underperforming product lines.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Rectangle 10"/>
          <p:cNvSpPr/>
          <p:nvPr/>
        </p:nvSpPr>
        <p:spPr>
          <a:xfrm>
            <a:off x="533520" y="2652840"/>
            <a:ext cx="11124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Rectangle 11"/>
          <p:cNvSpPr/>
          <p:nvPr/>
        </p:nvSpPr>
        <p:spPr>
          <a:xfrm>
            <a:off x="533520" y="3605040"/>
            <a:ext cx="11124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Rectangle 12"/>
          <p:cNvSpPr/>
          <p:nvPr/>
        </p:nvSpPr>
        <p:spPr>
          <a:xfrm>
            <a:off x="533520" y="4557600"/>
            <a:ext cx="11124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Rectangle 13"/>
          <p:cNvSpPr/>
          <p:nvPr/>
        </p:nvSpPr>
        <p:spPr>
          <a:xfrm>
            <a:off x="533520" y="5510160"/>
            <a:ext cx="1112472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55" name="Picture 14" descr="image.png"/>
          <p:cNvPicPr/>
          <p:nvPr/>
        </p:nvPicPr>
        <p:blipFill>
          <a:blip r:embed="rId2"/>
          <a:stretch/>
        </p:blipFill>
        <p:spPr>
          <a:xfrm>
            <a:off x="733320" y="203832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256" name="Picture 15" descr="image.png"/>
          <p:cNvPicPr/>
          <p:nvPr/>
        </p:nvPicPr>
        <p:blipFill>
          <a:blip r:embed="rId3"/>
          <a:stretch/>
        </p:blipFill>
        <p:spPr>
          <a:xfrm>
            <a:off x="733320" y="299088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257" name="Picture 16" descr="image.png"/>
          <p:cNvPicPr/>
          <p:nvPr/>
        </p:nvPicPr>
        <p:blipFill>
          <a:blip r:embed="rId4"/>
          <a:stretch/>
        </p:blipFill>
        <p:spPr>
          <a:xfrm>
            <a:off x="733320" y="3943440"/>
            <a:ext cx="237600" cy="199800"/>
          </a:xfrm>
          <a:prstGeom prst="rect">
            <a:avLst/>
          </a:prstGeom>
          <a:ln w="0">
            <a:noFill/>
          </a:ln>
        </p:spPr>
      </p:pic>
      <p:pic>
        <p:nvPicPr>
          <p:cNvPr id="258" name="Picture 17" descr="image.png"/>
          <p:cNvPicPr/>
          <p:nvPr/>
        </p:nvPicPr>
        <p:blipFill>
          <a:blip r:embed="rId5"/>
          <a:stretch/>
        </p:blipFill>
        <p:spPr>
          <a:xfrm>
            <a:off x="733320" y="4896000"/>
            <a:ext cx="218880" cy="199800"/>
          </a:xfrm>
          <a:prstGeom prst="rect">
            <a:avLst/>
          </a:prstGeom>
          <a:ln w="0">
            <a:noFill/>
          </a:ln>
        </p:spPr>
      </p:pic>
      <p:sp>
        <p:nvSpPr>
          <p:cNvPr id="259" name="TextBox 18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Reporting &amp; Analytical Views</a:t>
            </a:r>
            <a:endParaRPr b="0" lang="en-IN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61" name="Picture 2" descr="image.png"/>
          <p:cNvPicPr/>
          <p:nvPr/>
        </p:nvPicPr>
        <p:blipFill>
          <a:blip r:embed="rId2"/>
          <a:stretch/>
        </p:blipFill>
        <p:spPr>
          <a:xfrm>
            <a:off x="510480" y="3976560"/>
            <a:ext cx="1714320" cy="948600"/>
          </a:xfrm>
          <a:prstGeom prst="rect">
            <a:avLst/>
          </a:prstGeom>
          <a:ln w="0">
            <a:noFill/>
          </a:ln>
        </p:spPr>
      </p:pic>
      <p:pic>
        <p:nvPicPr>
          <p:cNvPr id="262" name="Picture 3" descr="image.png"/>
          <p:cNvPicPr/>
          <p:nvPr/>
        </p:nvPicPr>
        <p:blipFill>
          <a:blip r:embed="rId3"/>
          <a:stretch/>
        </p:blipFill>
        <p:spPr>
          <a:xfrm>
            <a:off x="2401920" y="2570400"/>
            <a:ext cx="1714320" cy="948600"/>
          </a:xfrm>
          <a:prstGeom prst="rect">
            <a:avLst/>
          </a:prstGeom>
          <a:ln w="0">
            <a:noFill/>
          </a:ln>
        </p:spPr>
      </p:pic>
      <p:pic>
        <p:nvPicPr>
          <p:cNvPr id="263" name="Picture 4" descr="image.png"/>
          <p:cNvPicPr/>
          <p:nvPr/>
        </p:nvPicPr>
        <p:blipFill>
          <a:blip r:embed="rId4"/>
          <a:stretch/>
        </p:blipFill>
        <p:spPr>
          <a:xfrm>
            <a:off x="4293000" y="3976560"/>
            <a:ext cx="1714320" cy="948600"/>
          </a:xfrm>
          <a:prstGeom prst="rect">
            <a:avLst/>
          </a:prstGeom>
          <a:ln w="0">
            <a:noFill/>
          </a:ln>
        </p:spPr>
      </p:pic>
      <p:pic>
        <p:nvPicPr>
          <p:cNvPr id="264" name="Picture 5" descr="image.png"/>
          <p:cNvPicPr/>
          <p:nvPr/>
        </p:nvPicPr>
        <p:blipFill>
          <a:blip r:embed="rId5"/>
          <a:stretch/>
        </p:blipFill>
        <p:spPr>
          <a:xfrm>
            <a:off x="6184440" y="2570400"/>
            <a:ext cx="1714320" cy="948600"/>
          </a:xfrm>
          <a:prstGeom prst="rect">
            <a:avLst/>
          </a:prstGeom>
          <a:ln w="0">
            <a:noFill/>
          </a:ln>
        </p:spPr>
      </p:pic>
      <p:pic>
        <p:nvPicPr>
          <p:cNvPr id="265" name="Picture 6" descr="image.png"/>
          <p:cNvPicPr/>
          <p:nvPr/>
        </p:nvPicPr>
        <p:blipFill>
          <a:blip r:embed="rId6"/>
          <a:stretch/>
        </p:blipFill>
        <p:spPr>
          <a:xfrm>
            <a:off x="8075880" y="3976560"/>
            <a:ext cx="1714320" cy="948600"/>
          </a:xfrm>
          <a:prstGeom prst="rect">
            <a:avLst/>
          </a:prstGeom>
          <a:ln w="0">
            <a:noFill/>
          </a:ln>
        </p:spPr>
      </p:pic>
      <p:pic>
        <p:nvPicPr>
          <p:cNvPr id="266" name="Picture 7" descr="image.png"/>
          <p:cNvPicPr/>
          <p:nvPr/>
        </p:nvPicPr>
        <p:blipFill>
          <a:blip r:embed="rId7"/>
          <a:stretch/>
        </p:blipFill>
        <p:spPr>
          <a:xfrm>
            <a:off x="9966960" y="2570400"/>
            <a:ext cx="1714320" cy="948600"/>
          </a:xfrm>
          <a:prstGeom prst="rect">
            <a:avLst/>
          </a:prstGeom>
          <a:ln w="0">
            <a:noFill/>
          </a:ln>
        </p:spPr>
      </p:pic>
      <p:sp>
        <p:nvSpPr>
          <p:cNvPr id="267" name="Rectangle 8"/>
          <p:cNvSpPr/>
          <p:nvPr/>
        </p:nvSpPr>
        <p:spPr>
          <a:xfrm>
            <a:off x="533520" y="3728880"/>
            <a:ext cx="11124720" cy="378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TextBox 9"/>
          <p:cNvSpPr/>
          <p:nvPr/>
        </p:nvSpPr>
        <p:spPr>
          <a:xfrm>
            <a:off x="597600" y="4100400"/>
            <a:ext cx="1539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130" spc="-1" strike="noStrike">
                <a:solidFill>
                  <a:srgbClr val="1d4ed8"/>
                </a:solidFill>
                <a:latin typeface="Space Grotesk"/>
              </a:rPr>
              <a:t>Phase 1: Design</a:t>
            </a:r>
            <a:endParaRPr b="0" lang="en-IN" sz="1130" spc="-1" strike="noStrike">
              <a:latin typeface="Arial"/>
            </a:endParaRPr>
          </a:p>
        </p:txBody>
      </p:sp>
      <p:sp>
        <p:nvSpPr>
          <p:cNvPr id="269" name="TextBox 10"/>
          <p:cNvSpPr/>
          <p:nvPr/>
        </p:nvSpPr>
        <p:spPr>
          <a:xfrm>
            <a:off x="634320" y="4319640"/>
            <a:ext cx="146664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264"/>
              </a:lnSpc>
            </a:pPr>
            <a:r>
              <a:rPr b="0" lang="en-US" sz="939" spc="-1" strike="noStrike">
                <a:solidFill>
                  <a:srgbClr val="475569"/>
                </a:solidFill>
                <a:latin typeface="DM Sans"/>
              </a:rPr>
              <a:t>Identify entities, 3NF normalization, define PK/FK relationships.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70" name="TextBox 11"/>
          <p:cNvSpPr/>
          <p:nvPr/>
        </p:nvSpPr>
        <p:spPr>
          <a:xfrm>
            <a:off x="2489040" y="2694240"/>
            <a:ext cx="1539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130" spc="-1" strike="noStrike">
                <a:solidFill>
                  <a:srgbClr val="1d4ed8"/>
                </a:solidFill>
                <a:latin typeface="Space Grotesk"/>
              </a:rPr>
              <a:t>Phase 2: MySQL DDL</a:t>
            </a:r>
            <a:endParaRPr b="0" lang="en-IN" sz="1130" spc="-1" strike="noStrike">
              <a:latin typeface="Arial"/>
            </a:endParaRPr>
          </a:p>
        </p:txBody>
      </p:sp>
      <p:sp>
        <p:nvSpPr>
          <p:cNvPr id="271" name="TextBox 12"/>
          <p:cNvSpPr/>
          <p:nvPr/>
        </p:nvSpPr>
        <p:spPr>
          <a:xfrm>
            <a:off x="2525760" y="2913480"/>
            <a:ext cx="146664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264"/>
              </a:lnSpc>
            </a:pPr>
            <a:r>
              <a:rPr b="0" lang="en-US" sz="939" spc="-1" strike="noStrike">
                <a:solidFill>
                  <a:srgbClr val="475569"/>
                </a:solidFill>
                <a:latin typeface="DM Sans"/>
              </a:rPr>
              <a:t>Build 7 tables, generated columns, and ordered execution script.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72" name="TextBox 13"/>
          <p:cNvSpPr/>
          <p:nvPr/>
        </p:nvSpPr>
        <p:spPr>
          <a:xfrm>
            <a:off x="4380120" y="4100400"/>
            <a:ext cx="1539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130" spc="-1" strike="noStrike">
                <a:solidFill>
                  <a:srgbClr val="1d4ed8"/>
                </a:solidFill>
                <a:latin typeface="Space Grotesk"/>
              </a:rPr>
              <a:t>Phase 3: Integrity</a:t>
            </a:r>
            <a:endParaRPr b="0" lang="en-IN" sz="1130" spc="-1" strike="noStrike">
              <a:latin typeface="Arial"/>
            </a:endParaRPr>
          </a:p>
        </p:txBody>
      </p:sp>
      <p:sp>
        <p:nvSpPr>
          <p:cNvPr id="273" name="TextBox 14"/>
          <p:cNvSpPr/>
          <p:nvPr/>
        </p:nvSpPr>
        <p:spPr>
          <a:xfrm>
            <a:off x="4416840" y="4319640"/>
            <a:ext cx="146664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264"/>
              </a:lnSpc>
            </a:pPr>
            <a:r>
              <a:rPr b="0" lang="en-US" sz="939" spc="-1" strike="noStrike">
                <a:solidFill>
                  <a:srgbClr val="475569"/>
                </a:solidFill>
                <a:latin typeface="DM Sans"/>
              </a:rPr>
              <a:t>Apply CHECK constraints, populate realistic test data.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74" name="TextBox 15"/>
          <p:cNvSpPr/>
          <p:nvPr/>
        </p:nvSpPr>
        <p:spPr>
          <a:xfrm>
            <a:off x="6271560" y="2694240"/>
            <a:ext cx="1539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130" spc="-1" strike="noStrike">
                <a:solidFill>
                  <a:srgbClr val="1d4ed8"/>
                </a:solidFill>
                <a:latin typeface="Space Grotesk"/>
              </a:rPr>
              <a:t>Phase 4: Triggers</a:t>
            </a:r>
            <a:endParaRPr b="0" lang="en-IN" sz="1130" spc="-1" strike="noStrike">
              <a:latin typeface="Arial"/>
            </a:endParaRPr>
          </a:p>
        </p:txBody>
      </p:sp>
      <p:sp>
        <p:nvSpPr>
          <p:cNvPr id="275" name="TextBox 16"/>
          <p:cNvSpPr/>
          <p:nvPr/>
        </p:nvSpPr>
        <p:spPr>
          <a:xfrm>
            <a:off x="6308280" y="2913480"/>
            <a:ext cx="146664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264"/>
              </a:lnSpc>
            </a:pPr>
            <a:r>
              <a:rPr b="0" lang="en-US" sz="939" spc="-1" strike="noStrike">
                <a:solidFill>
                  <a:srgbClr val="475569"/>
                </a:solidFill>
                <a:latin typeface="DM Sans"/>
              </a:rPr>
              <a:t>Deploy stock deduction and automated inventory log entries.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76" name="TextBox 17"/>
          <p:cNvSpPr/>
          <p:nvPr/>
        </p:nvSpPr>
        <p:spPr>
          <a:xfrm>
            <a:off x="8163000" y="4100400"/>
            <a:ext cx="1539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130" spc="-1" strike="noStrike">
                <a:solidFill>
                  <a:srgbClr val="1d4ed8"/>
                </a:solidFill>
                <a:latin typeface="Space Grotesk"/>
              </a:rPr>
              <a:t>Phase 5: Reports</a:t>
            </a:r>
            <a:endParaRPr b="0" lang="en-IN" sz="1130" spc="-1" strike="noStrike">
              <a:latin typeface="Arial"/>
            </a:endParaRPr>
          </a:p>
        </p:txBody>
      </p:sp>
      <p:sp>
        <p:nvSpPr>
          <p:cNvPr id="277" name="TextBox 18"/>
          <p:cNvSpPr/>
          <p:nvPr/>
        </p:nvSpPr>
        <p:spPr>
          <a:xfrm>
            <a:off x="8199360" y="4319640"/>
            <a:ext cx="146664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264"/>
              </a:lnSpc>
            </a:pPr>
            <a:r>
              <a:rPr b="0" lang="en-US" sz="939" spc="-1" strike="noStrike">
                <a:solidFill>
                  <a:srgbClr val="475569"/>
                </a:solidFill>
                <a:latin typeface="DM Sans"/>
              </a:rPr>
              <a:t>Construct complex join views for order history &amp; audits.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78" name="TextBox 19"/>
          <p:cNvSpPr/>
          <p:nvPr/>
        </p:nvSpPr>
        <p:spPr>
          <a:xfrm>
            <a:off x="10054080" y="2694240"/>
            <a:ext cx="1539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130" spc="-1" strike="noStrike">
                <a:solidFill>
                  <a:srgbClr val="1d4ed8"/>
                </a:solidFill>
                <a:latin typeface="Space Grotesk"/>
              </a:rPr>
              <a:t>Phase 6: Optimize</a:t>
            </a:r>
            <a:endParaRPr b="0" lang="en-IN" sz="1130" spc="-1" strike="noStrike">
              <a:latin typeface="Arial"/>
            </a:endParaRPr>
          </a:p>
        </p:txBody>
      </p:sp>
      <p:sp>
        <p:nvSpPr>
          <p:cNvPr id="279" name="TextBox 20"/>
          <p:cNvSpPr/>
          <p:nvPr/>
        </p:nvSpPr>
        <p:spPr>
          <a:xfrm>
            <a:off x="10090800" y="2913480"/>
            <a:ext cx="146664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264"/>
              </a:lnSpc>
            </a:pPr>
            <a:r>
              <a:rPr b="0" lang="en-US" sz="939" spc="-1" strike="noStrike">
                <a:solidFill>
                  <a:srgbClr val="475569"/>
                </a:solidFill>
                <a:latin typeface="DM Sans"/>
              </a:rPr>
              <a:t>Index verification and transaction concurrency testing.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80" name="TextBox 21"/>
          <p:cNvSpPr/>
          <p:nvPr/>
        </p:nvSpPr>
        <p:spPr>
          <a:xfrm>
            <a:off x="533520" y="457200"/>
            <a:ext cx="1165824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Space Grotesk"/>
              </a:rPr>
              <a:t>Implementation Roadmap</a:t>
            </a:r>
            <a:endParaRPr b="0" lang="en-IN" sz="2550" spc="-1" strike="noStrike">
              <a:latin typeface="Arial"/>
            </a:endParaRPr>
          </a:p>
        </p:txBody>
      </p:sp>
      <p:sp>
        <p:nvSpPr>
          <p:cNvPr id="281" name="Rounded Rectangle 22"/>
          <p:cNvSpPr/>
          <p:nvPr/>
        </p:nvSpPr>
        <p:spPr>
          <a:xfrm>
            <a:off x="1281960" y="366228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2" name="Rounded Rectangle 23"/>
          <p:cNvSpPr/>
          <p:nvPr/>
        </p:nvSpPr>
        <p:spPr>
          <a:xfrm>
            <a:off x="3173400" y="366228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3" name="Rounded Rectangle 24"/>
          <p:cNvSpPr/>
          <p:nvPr/>
        </p:nvSpPr>
        <p:spPr>
          <a:xfrm>
            <a:off x="5064480" y="366228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Rounded Rectangle 25"/>
          <p:cNvSpPr/>
          <p:nvPr/>
        </p:nvSpPr>
        <p:spPr>
          <a:xfrm>
            <a:off x="6955920" y="366228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5" name="Rounded Rectangle 26"/>
          <p:cNvSpPr/>
          <p:nvPr/>
        </p:nvSpPr>
        <p:spPr>
          <a:xfrm>
            <a:off x="8847360" y="366228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6" name="Rounded Rectangle 27"/>
          <p:cNvSpPr/>
          <p:nvPr/>
        </p:nvSpPr>
        <p:spPr>
          <a:xfrm>
            <a:off x="10738440" y="366228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88" name="Picture 2" descr="image.png"/>
          <p:cNvPicPr/>
          <p:nvPr/>
        </p:nvPicPr>
        <p:blipFill>
          <a:blip r:embed="rId2"/>
          <a:stretch/>
        </p:blipFill>
        <p:spPr>
          <a:xfrm>
            <a:off x="1645920" y="3824280"/>
            <a:ext cx="2864880" cy="1018800"/>
          </a:xfrm>
          <a:prstGeom prst="rect">
            <a:avLst/>
          </a:prstGeom>
          <a:ln w="0">
            <a:noFill/>
          </a:ln>
        </p:spPr>
      </p:pic>
      <p:pic>
        <p:nvPicPr>
          <p:cNvPr id="289" name="Picture 3" descr="image.png"/>
          <p:cNvPicPr/>
          <p:nvPr/>
        </p:nvPicPr>
        <p:blipFill>
          <a:blip r:embed="rId3"/>
          <a:stretch/>
        </p:blipFill>
        <p:spPr>
          <a:xfrm>
            <a:off x="4663440" y="3824280"/>
            <a:ext cx="2864880" cy="1018800"/>
          </a:xfrm>
          <a:prstGeom prst="rect">
            <a:avLst/>
          </a:prstGeom>
          <a:ln w="0">
            <a:noFill/>
          </a:ln>
        </p:spPr>
      </p:pic>
      <p:pic>
        <p:nvPicPr>
          <p:cNvPr id="290" name="Picture 4" descr="image.png"/>
          <p:cNvPicPr/>
          <p:nvPr/>
        </p:nvPicPr>
        <p:blipFill>
          <a:blip r:embed="rId4"/>
          <a:stretch/>
        </p:blipFill>
        <p:spPr>
          <a:xfrm>
            <a:off x="7680960" y="3824280"/>
            <a:ext cx="2864880" cy="1018800"/>
          </a:xfrm>
          <a:prstGeom prst="rect">
            <a:avLst/>
          </a:prstGeom>
          <a:ln w="0">
            <a:noFill/>
          </a:ln>
        </p:spPr>
      </p:pic>
      <p:sp>
        <p:nvSpPr>
          <p:cNvPr id="291" name="TextBox 5"/>
          <p:cNvSpPr/>
          <p:nvPr/>
        </p:nvSpPr>
        <p:spPr>
          <a:xfrm>
            <a:off x="4345920" y="2014560"/>
            <a:ext cx="349992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3900" spc="-1" strike="noStrike">
                <a:solidFill>
                  <a:srgbClr val="0f172a"/>
                </a:solidFill>
                <a:latin typeface="Space Grotesk"/>
              </a:rPr>
              <a:t>Technical Q&amp;A</a:t>
            </a:r>
            <a:endParaRPr b="0" lang="en-IN" sz="3900" spc="-1" strike="noStrike">
              <a:latin typeface="Arial"/>
            </a:endParaRPr>
          </a:p>
        </p:txBody>
      </p:sp>
      <p:sp>
        <p:nvSpPr>
          <p:cNvPr id="292" name="TextBox 6"/>
          <p:cNvSpPr/>
          <p:nvPr/>
        </p:nvSpPr>
        <p:spPr>
          <a:xfrm>
            <a:off x="2762280" y="2795760"/>
            <a:ext cx="666720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2251"/>
              </a:lnSpc>
            </a:pPr>
            <a:r>
              <a:rPr b="0" lang="en-US" sz="1500" spc="-1" strike="noStrike">
                <a:solidFill>
                  <a:srgbClr val="475569"/>
                </a:solidFill>
                <a:latin typeface="DM Sans"/>
              </a:rPr>
              <a:t>A solid, production-grade foundation for transactional retail data management.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93" name="TextBox 7"/>
          <p:cNvSpPr/>
          <p:nvPr/>
        </p:nvSpPr>
        <p:spPr>
          <a:xfrm>
            <a:off x="1827000" y="4005360"/>
            <a:ext cx="2502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1d4ed8"/>
                </a:solidFill>
                <a:latin typeface="DM Sans"/>
              </a:rPr>
              <a:t>Zero Redundancy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4" name="TextBox 8"/>
          <p:cNvSpPr/>
          <p:nvPr/>
        </p:nvSpPr>
        <p:spPr>
          <a:xfrm>
            <a:off x="4844520" y="4005360"/>
            <a:ext cx="2502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1d4ed8"/>
                </a:solidFill>
                <a:latin typeface="DM Sans"/>
              </a:rPr>
              <a:t>Real-Time Sync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5" name="TextBox 9"/>
          <p:cNvSpPr/>
          <p:nvPr/>
        </p:nvSpPr>
        <p:spPr>
          <a:xfrm>
            <a:off x="7861680" y="4005360"/>
            <a:ext cx="2502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1d4ed8"/>
                </a:solidFill>
                <a:latin typeface="DM Sans"/>
              </a:rPr>
              <a:t>Guaranteed Math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LibreOffice/7.1.4.2$Windows_X86_64 LibreOffice_project/a529a4fab45b75fefc5b6226684193eb000654f6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2026-09-17T12:14:16Z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