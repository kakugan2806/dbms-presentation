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12192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D7B8B408-E777-4176-84B8-C53F74C48D5C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83" name="Slide Number Placeholder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26B62EC0-F687-4153-8092-D5D44858F96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86" name="Slide Number Placeholder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5847669A-A411-42E8-95CE-2F789FF7957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89" name="Slide Number Placeholder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149387E4-241D-4A3A-A804-A7D56A81584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92" name="Slide Number Placeholder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4F33814C-9BE1-48D6-B94A-103C832188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95" name="Slide Number Placeholder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C76935E6-9BAB-4B86-9867-BFC98FB10AF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98" name="Slide Number Placeholder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C16EC6B1-E50C-4E17-8C1A-9E2B041B77F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37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8869680" y="-1645920"/>
            <a:ext cx="4754160" cy="4754160"/>
          </a:xfrm>
          <a:prstGeom prst="ellipse">
            <a:avLst/>
          </a:prstGeom>
          <a:solidFill>
            <a:srgbClr val="02809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-1463040" y="4480560"/>
            <a:ext cx="3291120" cy="3291120"/>
          </a:xfrm>
          <a:prstGeom prst="ellipse">
            <a:avLst/>
          </a:prstGeom>
          <a:solidFill>
            <a:srgbClr val="02c39a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2"/>
          <p:cNvSpPr/>
          <p:nvPr/>
        </p:nvSpPr>
        <p:spPr>
          <a:xfrm>
            <a:off x="640080" y="1371600"/>
            <a:ext cx="9143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7" strike="noStrike">
                <a:solidFill>
                  <a:srgbClr val="02c39a"/>
                </a:solidFill>
                <a:latin typeface="Calibri"/>
                <a:ea typeface="Calibri"/>
              </a:rPr>
              <a:t>PROJECT 1 OF 3  ·  DATABASE MANAGEMENT SYSTEMS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640080" y="1828800"/>
            <a:ext cx="960048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mbria"/>
                <a:ea typeface="Cambria"/>
              </a:rPr>
              <a:t>Retail Database</a:t>
            </a:r>
            <a:endParaRPr b="0" lang="en-IN" sz="4400" spc="-1" strike="noStrike">
              <a:latin typeface="Arial"/>
            </a:endParaRPr>
          </a:p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mbria"/>
                <a:ea typeface="Cambria"/>
              </a:rPr>
              <a:t>Management System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640080" y="3703320"/>
            <a:ext cx="8686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700" spc="-1" strike="noStrike">
                <a:solidFill>
                  <a:srgbClr val="cfe9e6"/>
                </a:solidFill>
                <a:latin typeface="Calibri"/>
                <a:ea typeface="Calibri"/>
              </a:rPr>
              <a:t>An Introduction to the Problem, Requirements, and Proposed Approach</a:t>
            </a:r>
            <a:endParaRPr b="0" lang="en-IN" sz="1700" spc="-1" strike="noStrike">
              <a:latin typeface="Arial"/>
            </a:endParaRPr>
          </a:p>
        </p:txBody>
      </p:sp>
      <p:pic>
        <p:nvPicPr>
          <p:cNvPr id="49" name="Image 0" descr="database.png"/>
          <p:cNvPicPr/>
          <p:nvPr/>
        </p:nvPicPr>
        <p:blipFill>
          <a:blip r:embed="rId1"/>
          <a:stretch/>
        </p:blipFill>
        <p:spPr>
          <a:xfrm>
            <a:off x="10332720" y="5394960"/>
            <a:ext cx="1005120" cy="1005120"/>
          </a:xfrm>
          <a:prstGeom prst="rect">
            <a:avLst/>
          </a:prstGeom>
          <a:ln w="0">
            <a:noFill/>
          </a:ln>
        </p:spPr>
      </p:pic>
      <p:sp>
        <p:nvSpPr>
          <p:cNvPr id="50" name="Text 5"/>
          <p:cNvSpPr/>
          <p:nvPr/>
        </p:nvSpPr>
        <p:spPr>
          <a:xfrm>
            <a:off x="633960" y="414000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fb9b4"/>
                </a:solidFill>
                <a:latin typeface="Calibri"/>
                <a:ea typeface="Calibri"/>
              </a:rPr>
              <a:t>Krish Chhotoo Ghadge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fb9b4"/>
                </a:solidFill>
                <a:latin typeface="Calibri"/>
                <a:ea typeface="Calibri"/>
              </a:rPr>
              <a:t>25WU0102132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548640" y="45720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b2b33"/>
                </a:solidFill>
                <a:latin typeface="Cambria"/>
                <a:ea typeface="Cambria"/>
              </a:rPr>
              <a:t>Business Background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548640" y="96012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5c7a80"/>
                </a:solidFill>
                <a:latin typeface="Calibri"/>
                <a:ea typeface="Calibri"/>
              </a:rPr>
              <a:t>Where the data currently lives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548640" y="1600200"/>
            <a:ext cx="63086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0b2b33"/>
                </a:solidFill>
                <a:latin typeface="Calibri"/>
                <a:ea typeface="Calibri"/>
              </a:rPr>
              <a:t>A growing retail operation, sold across </a:t>
            </a:r>
            <a:r>
              <a:rPr b="1" lang="en-US" sz="1500" spc="-1" strike="noStrike">
                <a:solidFill>
                  <a:srgbClr val="028090"/>
                </a:solidFill>
                <a:latin typeface="Calibri"/>
                <a:ea typeface="Calibri"/>
              </a:rPr>
              <a:t>e-commerce and physical stores</a:t>
            </a:r>
            <a:r>
              <a:rPr b="0" lang="en-US" sz="1500" spc="-1" strike="noStrike">
                <a:solidFill>
                  <a:srgbClr val="0b2b33"/>
                </a:solidFill>
                <a:latin typeface="Calibri"/>
                <a:ea typeface="Calibri"/>
              </a:rPr>
              <a:t>, spanning consumer electronics, home appliances, and fashion.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548640" y="2468880"/>
            <a:ext cx="63086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0b2b33"/>
                </a:solidFill>
                <a:latin typeface="Calibri"/>
                <a:ea typeface="Calibri"/>
              </a:rPr>
              <a:t>Customers browse products, place orders, and track deliveries online, while stores operate in parallel across multiple locations.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5" name="Shape 4"/>
          <p:cNvSpPr/>
          <p:nvPr/>
        </p:nvSpPr>
        <p:spPr>
          <a:xfrm>
            <a:off x="548640" y="3429000"/>
            <a:ext cx="6308640" cy="1599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dea"/>
            </a:solidFill>
            <a:round/>
          </a:ln>
          <a:effectLst>
            <a:outerShdw algn="bl" blurRad="101520" dir="5400000" dist="38160" kx="0" ky="0" rotWithShape="0" sx="100000" sy="100000">
              <a:srgbClr val="0b2b33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6" name="Text 5"/>
          <p:cNvSpPr/>
          <p:nvPr/>
        </p:nvSpPr>
        <p:spPr>
          <a:xfrm>
            <a:off x="822960" y="3611880"/>
            <a:ext cx="5760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5c7a80"/>
                </a:solidFill>
                <a:latin typeface="Calibri"/>
                <a:ea typeface="Calibri"/>
              </a:rPr>
              <a:t>Today, this runs on: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7" name="Shape 6"/>
          <p:cNvSpPr/>
          <p:nvPr/>
        </p:nvSpPr>
        <p:spPr>
          <a:xfrm>
            <a:off x="822960" y="4023360"/>
            <a:ext cx="81720" cy="8172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7"/>
          <p:cNvSpPr/>
          <p:nvPr/>
        </p:nvSpPr>
        <p:spPr>
          <a:xfrm>
            <a:off x="1051560" y="391356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b2b33"/>
                </a:solidFill>
                <a:latin typeface="Calibri"/>
                <a:ea typeface="Calibri"/>
              </a:rPr>
              <a:t>Spreadsheets for inventory &amp; customer records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59" name="Shape 8"/>
          <p:cNvSpPr/>
          <p:nvPr/>
        </p:nvSpPr>
        <p:spPr>
          <a:xfrm>
            <a:off x="822960" y="4389120"/>
            <a:ext cx="81720" cy="8172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Text 9"/>
          <p:cNvSpPr/>
          <p:nvPr/>
        </p:nvSpPr>
        <p:spPr>
          <a:xfrm>
            <a:off x="1051560" y="427932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b2b33"/>
                </a:solidFill>
                <a:latin typeface="Calibri"/>
                <a:ea typeface="Calibri"/>
              </a:rPr>
              <a:t>Disconnected applications per function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61" name="Shape 10"/>
          <p:cNvSpPr/>
          <p:nvPr/>
        </p:nvSpPr>
        <p:spPr>
          <a:xfrm>
            <a:off x="822960" y="4754880"/>
            <a:ext cx="81720" cy="8172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11"/>
          <p:cNvSpPr/>
          <p:nvPr/>
        </p:nvSpPr>
        <p:spPr>
          <a:xfrm>
            <a:off x="1051560" y="464508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b2b33"/>
                </a:solidFill>
                <a:latin typeface="Calibri"/>
                <a:ea typeface="Calibri"/>
              </a:rPr>
              <a:t>No single source of truth across teams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63" name="Shape 12"/>
          <p:cNvSpPr/>
          <p:nvPr/>
        </p:nvSpPr>
        <p:spPr>
          <a:xfrm>
            <a:off x="7315200" y="1463040"/>
            <a:ext cx="4296960" cy="4479840"/>
          </a:xfrm>
          <a:prstGeom prst="rect">
            <a:avLst/>
          </a:prstGeom>
          <a:solidFill>
            <a:srgbClr val="0537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Text 13"/>
          <p:cNvSpPr/>
          <p:nvPr/>
        </p:nvSpPr>
        <p:spPr>
          <a:xfrm>
            <a:off x="7635240" y="169164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4" strike="noStrike">
                <a:solidFill>
                  <a:srgbClr val="02c39a"/>
                </a:solidFill>
                <a:latin typeface="Calibri"/>
                <a:ea typeface="Calibri"/>
              </a:rPr>
              <a:t>Fragmented Systems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5" name="Shape 14"/>
          <p:cNvSpPr/>
          <p:nvPr/>
        </p:nvSpPr>
        <p:spPr>
          <a:xfrm>
            <a:off x="7635240" y="2240280"/>
            <a:ext cx="3656880" cy="712440"/>
          </a:xfrm>
          <a:prstGeom prst="roundRect">
            <a:avLst>
              <a:gd name="adj" fmla="val 10256"/>
            </a:avLst>
          </a:prstGeom>
          <a:solidFill>
            <a:srgbClr val="0a4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Shape 15"/>
          <p:cNvSpPr/>
          <p:nvPr/>
        </p:nvSpPr>
        <p:spPr>
          <a:xfrm>
            <a:off x="7772400" y="2350080"/>
            <a:ext cx="493200" cy="4932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67" name="Image 0" descr="customer.png"/>
          <p:cNvPicPr/>
          <p:nvPr/>
        </p:nvPicPr>
        <p:blipFill>
          <a:blip r:embed="rId1"/>
          <a:stretch/>
        </p:blipFill>
        <p:spPr>
          <a:xfrm>
            <a:off x="7831800" y="2409120"/>
            <a:ext cx="374400" cy="374400"/>
          </a:xfrm>
          <a:prstGeom prst="rect">
            <a:avLst/>
          </a:prstGeom>
          <a:ln w="0">
            <a:noFill/>
          </a:ln>
        </p:spPr>
      </p:pic>
      <p:sp>
        <p:nvSpPr>
          <p:cNvPr id="68" name="Text 16"/>
          <p:cNvSpPr/>
          <p:nvPr/>
        </p:nvSpPr>
        <p:spPr>
          <a:xfrm>
            <a:off x="8412480" y="2240280"/>
            <a:ext cx="26510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Customer Sheets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9" name="Shape 17"/>
          <p:cNvSpPr/>
          <p:nvPr/>
        </p:nvSpPr>
        <p:spPr>
          <a:xfrm>
            <a:off x="7635240" y="3154680"/>
            <a:ext cx="3656880" cy="712440"/>
          </a:xfrm>
          <a:prstGeom prst="roundRect">
            <a:avLst>
              <a:gd name="adj" fmla="val 10256"/>
            </a:avLst>
          </a:prstGeom>
          <a:solidFill>
            <a:srgbClr val="0a4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Shape 18"/>
          <p:cNvSpPr/>
          <p:nvPr/>
        </p:nvSpPr>
        <p:spPr>
          <a:xfrm>
            <a:off x="7772400" y="3264480"/>
            <a:ext cx="493200" cy="4932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71" name="Image 1" descr="inventory.png"/>
          <p:cNvPicPr/>
          <p:nvPr/>
        </p:nvPicPr>
        <p:blipFill>
          <a:blip r:embed="rId2"/>
          <a:stretch/>
        </p:blipFill>
        <p:spPr>
          <a:xfrm>
            <a:off x="7831800" y="3323520"/>
            <a:ext cx="374400" cy="374400"/>
          </a:xfrm>
          <a:prstGeom prst="rect">
            <a:avLst/>
          </a:prstGeom>
          <a:ln w="0">
            <a:noFill/>
          </a:ln>
        </p:spPr>
      </p:pic>
      <p:sp>
        <p:nvSpPr>
          <p:cNvPr id="72" name="Text 19"/>
          <p:cNvSpPr/>
          <p:nvPr/>
        </p:nvSpPr>
        <p:spPr>
          <a:xfrm>
            <a:off x="8412480" y="3154680"/>
            <a:ext cx="26510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Inventory Files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3" name="Shape 20"/>
          <p:cNvSpPr/>
          <p:nvPr/>
        </p:nvSpPr>
        <p:spPr>
          <a:xfrm>
            <a:off x="7635240" y="4069080"/>
            <a:ext cx="3656880" cy="712440"/>
          </a:xfrm>
          <a:prstGeom prst="roundRect">
            <a:avLst>
              <a:gd name="adj" fmla="val 10256"/>
            </a:avLst>
          </a:prstGeom>
          <a:solidFill>
            <a:srgbClr val="0a4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Shape 21"/>
          <p:cNvSpPr/>
          <p:nvPr/>
        </p:nvSpPr>
        <p:spPr>
          <a:xfrm>
            <a:off x="7772400" y="4178880"/>
            <a:ext cx="493200" cy="4932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75" name="Image 2" descr="orders.png"/>
          <p:cNvPicPr/>
          <p:nvPr/>
        </p:nvPicPr>
        <p:blipFill>
          <a:blip r:embed="rId3"/>
          <a:stretch/>
        </p:blipFill>
        <p:spPr>
          <a:xfrm>
            <a:off x="7831800" y="4237920"/>
            <a:ext cx="374400" cy="374400"/>
          </a:xfrm>
          <a:prstGeom prst="rect">
            <a:avLst/>
          </a:prstGeom>
          <a:ln w="0">
            <a:noFill/>
          </a:ln>
        </p:spPr>
      </p:pic>
      <p:sp>
        <p:nvSpPr>
          <p:cNvPr id="76" name="Text 22"/>
          <p:cNvSpPr/>
          <p:nvPr/>
        </p:nvSpPr>
        <p:spPr>
          <a:xfrm>
            <a:off x="8412480" y="4069080"/>
            <a:ext cx="26510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Order Logs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7" name="Shape 23"/>
          <p:cNvSpPr/>
          <p:nvPr/>
        </p:nvSpPr>
        <p:spPr>
          <a:xfrm>
            <a:off x="7635240" y="4983480"/>
            <a:ext cx="3656880" cy="712440"/>
          </a:xfrm>
          <a:prstGeom prst="roundRect">
            <a:avLst>
              <a:gd name="adj" fmla="val 10256"/>
            </a:avLst>
          </a:prstGeom>
          <a:solidFill>
            <a:srgbClr val="0a4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Shape 24"/>
          <p:cNvSpPr/>
          <p:nvPr/>
        </p:nvSpPr>
        <p:spPr>
          <a:xfrm>
            <a:off x="7772400" y="5093280"/>
            <a:ext cx="493200" cy="4932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79" name="Image 3" descr="supplier.png"/>
          <p:cNvPicPr/>
          <p:nvPr/>
        </p:nvPicPr>
        <p:blipFill>
          <a:blip r:embed="rId4"/>
          <a:stretch/>
        </p:blipFill>
        <p:spPr>
          <a:xfrm>
            <a:off x="7831800" y="5152320"/>
            <a:ext cx="374400" cy="374400"/>
          </a:xfrm>
          <a:prstGeom prst="rect">
            <a:avLst/>
          </a:prstGeom>
          <a:ln w="0">
            <a:noFill/>
          </a:ln>
        </p:spPr>
      </p:pic>
      <p:sp>
        <p:nvSpPr>
          <p:cNvPr id="80" name="Text 25"/>
          <p:cNvSpPr/>
          <p:nvPr/>
        </p:nvSpPr>
        <p:spPr>
          <a:xfrm>
            <a:off x="8412480" y="4983480"/>
            <a:ext cx="26510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Supplier Records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548640" y="45720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b2b33"/>
                </a:solidFill>
                <a:latin typeface="Cambria"/>
                <a:ea typeface="Cambria"/>
              </a:rPr>
              <a:t>The Core Problem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548640" y="9601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5c7a80"/>
                </a:solidFill>
                <a:latin typeface="Calibri"/>
                <a:ea typeface="Calibri"/>
              </a:rPr>
              <a:t>Five pain points created by fragmented data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3" name="Shape 2"/>
          <p:cNvSpPr/>
          <p:nvPr/>
        </p:nvSpPr>
        <p:spPr>
          <a:xfrm>
            <a:off x="548640" y="1554480"/>
            <a:ext cx="3565440" cy="19652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dea"/>
            </a:solidFill>
            <a:round/>
          </a:ln>
          <a:effectLst>
            <a:outerShdw algn="bl" blurRad="76320" dir="5400000" dist="25560" kx="0" ky="0" rotWithShape="0" sx="100000" sy="100000">
              <a:srgbClr val="0b2b33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4" name="Shape 3"/>
          <p:cNvSpPr/>
          <p:nvPr/>
        </p:nvSpPr>
        <p:spPr>
          <a:xfrm>
            <a:off x="777240" y="1783080"/>
            <a:ext cx="547920" cy="54792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85" name="Image 0" descr="inventory.png"/>
          <p:cNvPicPr/>
          <p:nvPr/>
        </p:nvPicPr>
        <p:blipFill>
          <a:blip r:embed="rId1"/>
          <a:stretch/>
        </p:blipFill>
        <p:spPr>
          <a:xfrm>
            <a:off x="843120" y="1848960"/>
            <a:ext cx="416160" cy="416160"/>
          </a:xfrm>
          <a:prstGeom prst="rect">
            <a:avLst/>
          </a:prstGeom>
          <a:ln w="0">
            <a:noFill/>
          </a:ln>
        </p:spPr>
      </p:pic>
      <p:sp>
        <p:nvSpPr>
          <p:cNvPr id="86" name="Text 4"/>
          <p:cNvSpPr/>
          <p:nvPr/>
        </p:nvSpPr>
        <p:spPr>
          <a:xfrm>
            <a:off x="1463040" y="1783080"/>
            <a:ext cx="24681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2b33"/>
                </a:solidFill>
                <a:latin typeface="Calibri"/>
                <a:ea typeface="Calibri"/>
              </a:rPr>
              <a:t>Inventory Issues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7" name="Text 5"/>
          <p:cNvSpPr/>
          <p:nvPr/>
        </p:nvSpPr>
        <p:spPr>
          <a:xfrm>
            <a:off x="777240" y="2468880"/>
            <a:ext cx="31082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5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7a80"/>
                </a:solidFill>
                <a:latin typeface="Calibri"/>
                <a:ea typeface="Calibri"/>
              </a:rPr>
              <a:t>Outdated stock data leads customers to order products that are no longer available.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88" name="Shape 6"/>
          <p:cNvSpPr/>
          <p:nvPr/>
        </p:nvSpPr>
        <p:spPr>
          <a:xfrm>
            <a:off x="4343400" y="1554480"/>
            <a:ext cx="3565440" cy="19652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dea"/>
            </a:solidFill>
            <a:round/>
          </a:ln>
          <a:effectLst>
            <a:outerShdw algn="bl" blurRad="76320" dir="5400000" dist="25560" kx="0" ky="0" rotWithShape="0" sx="100000" sy="100000">
              <a:srgbClr val="0b2b33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9" name="Shape 7"/>
          <p:cNvSpPr/>
          <p:nvPr/>
        </p:nvSpPr>
        <p:spPr>
          <a:xfrm>
            <a:off x="4572000" y="1783080"/>
            <a:ext cx="547920" cy="54792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90" name="Image 1" descr="orders.png"/>
          <p:cNvPicPr/>
          <p:nvPr/>
        </p:nvPicPr>
        <p:blipFill>
          <a:blip r:embed="rId2"/>
          <a:stretch/>
        </p:blipFill>
        <p:spPr>
          <a:xfrm>
            <a:off x="4637880" y="1848960"/>
            <a:ext cx="416160" cy="416160"/>
          </a:xfrm>
          <a:prstGeom prst="rect">
            <a:avLst/>
          </a:prstGeom>
          <a:ln w="0">
            <a:noFill/>
          </a:ln>
        </p:spPr>
      </p:pic>
      <p:sp>
        <p:nvSpPr>
          <p:cNvPr id="91" name="Text 8"/>
          <p:cNvSpPr/>
          <p:nvPr/>
        </p:nvSpPr>
        <p:spPr>
          <a:xfrm>
            <a:off x="5257800" y="1783080"/>
            <a:ext cx="24681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2b33"/>
                </a:solidFill>
                <a:latin typeface="Calibri"/>
                <a:ea typeface="Calibri"/>
              </a:rPr>
              <a:t>Order Management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2" name="Text 9"/>
          <p:cNvSpPr/>
          <p:nvPr/>
        </p:nvSpPr>
        <p:spPr>
          <a:xfrm>
            <a:off x="4572000" y="2468880"/>
            <a:ext cx="31082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5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7a80"/>
                </a:solidFill>
                <a:latin typeface="Calibri"/>
                <a:ea typeface="Calibri"/>
              </a:rPr>
              <a:t>Orders take too long to process, and past order history is hard to trace.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93" name="Shape 10"/>
          <p:cNvSpPr/>
          <p:nvPr/>
        </p:nvSpPr>
        <p:spPr>
          <a:xfrm>
            <a:off x="8138160" y="1554480"/>
            <a:ext cx="3565440" cy="19652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dea"/>
            </a:solidFill>
            <a:round/>
          </a:ln>
          <a:effectLst>
            <a:outerShdw algn="bl" blurRad="76320" dir="5400000" dist="25560" kx="0" ky="0" rotWithShape="0" sx="100000" sy="100000">
              <a:srgbClr val="0b2b33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4" name="Shape 11"/>
          <p:cNvSpPr/>
          <p:nvPr/>
        </p:nvSpPr>
        <p:spPr>
          <a:xfrm>
            <a:off x="8366760" y="1783080"/>
            <a:ext cx="547920" cy="54792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95" name="Image 2" descr="supplier.png"/>
          <p:cNvPicPr/>
          <p:nvPr/>
        </p:nvPicPr>
        <p:blipFill>
          <a:blip r:embed="rId3"/>
          <a:stretch/>
        </p:blipFill>
        <p:spPr>
          <a:xfrm>
            <a:off x="8432640" y="1848960"/>
            <a:ext cx="416160" cy="416160"/>
          </a:xfrm>
          <a:prstGeom prst="rect">
            <a:avLst/>
          </a:prstGeom>
          <a:ln w="0">
            <a:noFill/>
          </a:ln>
        </p:spPr>
      </p:pic>
      <p:sp>
        <p:nvSpPr>
          <p:cNvPr id="96" name="Text 12"/>
          <p:cNvSpPr/>
          <p:nvPr/>
        </p:nvSpPr>
        <p:spPr>
          <a:xfrm>
            <a:off x="9052560" y="1783080"/>
            <a:ext cx="24681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2b33"/>
                </a:solidFill>
                <a:latin typeface="Calibri"/>
                <a:ea typeface="Calibri"/>
              </a:rPr>
              <a:t>Supplier Coordination Gaps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7" name="Text 13"/>
          <p:cNvSpPr/>
          <p:nvPr/>
        </p:nvSpPr>
        <p:spPr>
          <a:xfrm>
            <a:off x="8366760" y="2468880"/>
            <a:ext cx="31082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5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7a80"/>
                </a:solidFill>
                <a:latin typeface="Calibri"/>
                <a:ea typeface="Calibri"/>
              </a:rPr>
              <a:t>Weak supplier tracking causes delivery delays and stock shortages.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98" name="Shape 14"/>
          <p:cNvSpPr/>
          <p:nvPr/>
        </p:nvSpPr>
        <p:spPr>
          <a:xfrm>
            <a:off x="2446200" y="3840480"/>
            <a:ext cx="3565440" cy="19652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dea"/>
            </a:solidFill>
            <a:round/>
          </a:ln>
          <a:effectLst>
            <a:outerShdw algn="bl" blurRad="76320" dir="5400000" dist="25560" kx="0" ky="0" rotWithShape="0" sx="100000" sy="100000">
              <a:srgbClr val="0b2b33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9" name="Shape 15"/>
          <p:cNvSpPr/>
          <p:nvPr/>
        </p:nvSpPr>
        <p:spPr>
          <a:xfrm>
            <a:off x="2674800" y="4069080"/>
            <a:ext cx="547920" cy="54792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0" name="Image 3" descr="service.png"/>
          <p:cNvPicPr/>
          <p:nvPr/>
        </p:nvPicPr>
        <p:blipFill>
          <a:blip r:embed="rId4"/>
          <a:stretch/>
        </p:blipFill>
        <p:spPr>
          <a:xfrm>
            <a:off x="2740320" y="4134960"/>
            <a:ext cx="416160" cy="416160"/>
          </a:xfrm>
          <a:prstGeom prst="rect">
            <a:avLst/>
          </a:prstGeom>
          <a:ln w="0">
            <a:noFill/>
          </a:ln>
        </p:spPr>
      </p:pic>
      <p:sp>
        <p:nvSpPr>
          <p:cNvPr id="101" name="Text 16"/>
          <p:cNvSpPr/>
          <p:nvPr/>
        </p:nvSpPr>
        <p:spPr>
          <a:xfrm>
            <a:off x="3360600" y="4069080"/>
            <a:ext cx="24681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2b33"/>
                </a:solidFill>
                <a:latin typeface="Calibri"/>
                <a:ea typeface="Calibri"/>
              </a:rPr>
              <a:t>Customer Service Inefficiency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2" name="Text 17"/>
          <p:cNvSpPr/>
          <p:nvPr/>
        </p:nvSpPr>
        <p:spPr>
          <a:xfrm>
            <a:off x="2674800" y="4754880"/>
            <a:ext cx="31082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5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7a80"/>
                </a:solidFill>
                <a:latin typeface="Calibri"/>
                <a:ea typeface="Calibri"/>
              </a:rPr>
              <a:t>Staff lack quick access to customer history, slowing issue resolution.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03" name="Shape 18"/>
          <p:cNvSpPr/>
          <p:nvPr/>
        </p:nvSpPr>
        <p:spPr>
          <a:xfrm>
            <a:off x="6698160" y="3840480"/>
            <a:ext cx="3565440" cy="19652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dea"/>
            </a:solidFill>
            <a:round/>
          </a:ln>
          <a:effectLst>
            <a:outerShdw algn="bl" blurRad="76320" dir="5400000" dist="25560" kx="0" ky="0" rotWithShape="0" sx="100000" sy="100000">
              <a:srgbClr val="0b2b33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Shape 19"/>
          <p:cNvSpPr/>
          <p:nvPr/>
        </p:nvSpPr>
        <p:spPr>
          <a:xfrm>
            <a:off x="6926760" y="4069080"/>
            <a:ext cx="547920" cy="54792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5" name="Image 4" descr="insights.png"/>
          <p:cNvPicPr/>
          <p:nvPr/>
        </p:nvPicPr>
        <p:blipFill>
          <a:blip r:embed="rId5"/>
          <a:stretch/>
        </p:blipFill>
        <p:spPr>
          <a:xfrm>
            <a:off x="6992280" y="4134960"/>
            <a:ext cx="416160" cy="416160"/>
          </a:xfrm>
          <a:prstGeom prst="rect">
            <a:avLst/>
          </a:prstGeom>
          <a:ln w="0">
            <a:noFill/>
          </a:ln>
        </p:spPr>
      </p:pic>
      <p:sp>
        <p:nvSpPr>
          <p:cNvPr id="106" name="Text 20"/>
          <p:cNvSpPr/>
          <p:nvPr/>
        </p:nvSpPr>
        <p:spPr>
          <a:xfrm>
            <a:off x="7612560" y="4069080"/>
            <a:ext cx="24681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2b33"/>
                </a:solidFill>
                <a:latin typeface="Calibri"/>
                <a:ea typeface="Calibri"/>
              </a:rPr>
              <a:t>Lack of Insights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7" name="Text 21"/>
          <p:cNvSpPr/>
          <p:nvPr/>
        </p:nvSpPr>
        <p:spPr>
          <a:xfrm>
            <a:off x="6926760" y="4754880"/>
            <a:ext cx="31082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5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7a80"/>
                </a:solidFill>
                <a:latin typeface="Calibri"/>
                <a:ea typeface="Calibri"/>
              </a:rPr>
              <a:t>No real-time reporting on sales trends, top products, or customer behavior.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37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0"/>
          <p:cNvSpPr/>
          <p:nvPr/>
        </p:nvSpPr>
        <p:spPr>
          <a:xfrm>
            <a:off x="548640" y="45720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Why It Matters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109" name="Text 1"/>
          <p:cNvSpPr/>
          <p:nvPr/>
        </p:nvSpPr>
        <p:spPr>
          <a:xfrm>
            <a:off x="548640" y="9601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9fd3ce"/>
                </a:solidFill>
                <a:latin typeface="Calibri"/>
                <a:ea typeface="Calibri"/>
              </a:rPr>
              <a:t>The compounding cost of disconnected data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0" name="Shape 2"/>
          <p:cNvSpPr/>
          <p:nvPr/>
        </p:nvSpPr>
        <p:spPr>
          <a:xfrm>
            <a:off x="548640" y="1920240"/>
            <a:ext cx="2605320" cy="3291120"/>
          </a:xfrm>
          <a:prstGeom prst="roundRect">
            <a:avLst>
              <a:gd name="adj" fmla="val 3509"/>
            </a:avLst>
          </a:prstGeom>
          <a:solidFill>
            <a:srgbClr val="0a4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Shape 3"/>
          <p:cNvSpPr/>
          <p:nvPr/>
        </p:nvSpPr>
        <p:spPr>
          <a:xfrm>
            <a:off x="1440360" y="2240280"/>
            <a:ext cx="822240" cy="8222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12" name="Image 0" descr="orders.png"/>
          <p:cNvPicPr/>
          <p:nvPr/>
        </p:nvPicPr>
        <p:blipFill>
          <a:blip r:embed="rId1"/>
          <a:stretch/>
        </p:blipFill>
        <p:spPr>
          <a:xfrm>
            <a:off x="1539000" y="2338920"/>
            <a:ext cx="624600" cy="624600"/>
          </a:xfrm>
          <a:prstGeom prst="rect">
            <a:avLst/>
          </a:prstGeom>
          <a:ln w="0">
            <a:noFill/>
          </a:ln>
        </p:spPr>
      </p:pic>
      <p:sp>
        <p:nvSpPr>
          <p:cNvPr id="113" name="Text 4"/>
          <p:cNvSpPr/>
          <p:nvPr/>
        </p:nvSpPr>
        <p:spPr>
          <a:xfrm>
            <a:off x="685800" y="3291840"/>
            <a:ext cx="2331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2c39a"/>
                </a:solidFill>
                <a:latin typeface="Cambria"/>
                <a:ea typeface="Cambria"/>
              </a:rPr>
              <a:t>Slower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14" name="Text 5"/>
          <p:cNvSpPr/>
          <p:nvPr/>
        </p:nvSpPr>
        <p:spPr>
          <a:xfrm>
            <a:off x="685800" y="3886200"/>
            <a:ext cx="2331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ts val="1599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9f0ed"/>
                </a:solidFill>
                <a:latin typeface="Calibri"/>
                <a:ea typeface="Calibri"/>
              </a:rPr>
              <a:t>Order processing &amp;</a:t>
            </a:r>
            <a:endParaRPr b="0" lang="en-IN" sz="1250" spc="-1" strike="noStrike">
              <a:latin typeface="Arial"/>
            </a:endParaRPr>
          </a:p>
          <a:p>
            <a:pPr algn="ctr">
              <a:lnSpc>
                <a:spcPts val="1599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9f0ed"/>
                </a:solidFill>
                <a:latin typeface="Calibri"/>
                <a:ea typeface="Calibri"/>
              </a:rPr>
              <a:t>fulfillment cycles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15" name="Shape 6"/>
          <p:cNvSpPr/>
          <p:nvPr/>
        </p:nvSpPr>
        <p:spPr>
          <a:xfrm>
            <a:off x="3383280" y="1920240"/>
            <a:ext cx="2605320" cy="3291120"/>
          </a:xfrm>
          <a:prstGeom prst="roundRect">
            <a:avLst>
              <a:gd name="adj" fmla="val 3509"/>
            </a:avLst>
          </a:prstGeom>
          <a:solidFill>
            <a:srgbClr val="0a4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Shape 7"/>
          <p:cNvSpPr/>
          <p:nvPr/>
        </p:nvSpPr>
        <p:spPr>
          <a:xfrm>
            <a:off x="4275000" y="2240280"/>
            <a:ext cx="822240" cy="8222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17" name="Image 1" descr="inventory.png"/>
          <p:cNvPicPr/>
          <p:nvPr/>
        </p:nvPicPr>
        <p:blipFill>
          <a:blip r:embed="rId2"/>
          <a:stretch/>
        </p:blipFill>
        <p:spPr>
          <a:xfrm>
            <a:off x="4373640" y="2338920"/>
            <a:ext cx="624600" cy="624600"/>
          </a:xfrm>
          <a:prstGeom prst="rect">
            <a:avLst/>
          </a:prstGeom>
          <a:ln w="0">
            <a:noFill/>
          </a:ln>
        </p:spPr>
      </p:pic>
      <p:sp>
        <p:nvSpPr>
          <p:cNvPr id="118" name="Text 8"/>
          <p:cNvSpPr/>
          <p:nvPr/>
        </p:nvSpPr>
        <p:spPr>
          <a:xfrm>
            <a:off x="3520440" y="3291840"/>
            <a:ext cx="2331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2c39a"/>
                </a:solidFill>
                <a:latin typeface="Cambria"/>
                <a:ea typeface="Cambria"/>
              </a:rPr>
              <a:t>Mismatched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19" name="Text 9"/>
          <p:cNvSpPr/>
          <p:nvPr/>
        </p:nvSpPr>
        <p:spPr>
          <a:xfrm>
            <a:off x="3520440" y="3886200"/>
            <a:ext cx="2331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ts val="1599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9f0ed"/>
                </a:solidFill>
                <a:latin typeface="Calibri"/>
                <a:ea typeface="Calibri"/>
              </a:rPr>
              <a:t>Stock levels vs.</a:t>
            </a:r>
            <a:endParaRPr b="0" lang="en-IN" sz="1250" spc="-1" strike="noStrike">
              <a:latin typeface="Arial"/>
            </a:endParaRPr>
          </a:p>
          <a:p>
            <a:pPr algn="ctr">
              <a:lnSpc>
                <a:spcPts val="1599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9f0ed"/>
                </a:solidFill>
                <a:latin typeface="Calibri"/>
                <a:ea typeface="Calibri"/>
              </a:rPr>
              <a:t>actual availability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20" name="Shape 10"/>
          <p:cNvSpPr/>
          <p:nvPr/>
        </p:nvSpPr>
        <p:spPr>
          <a:xfrm>
            <a:off x="6217920" y="1920240"/>
            <a:ext cx="2605320" cy="3291120"/>
          </a:xfrm>
          <a:prstGeom prst="roundRect">
            <a:avLst>
              <a:gd name="adj" fmla="val 3509"/>
            </a:avLst>
          </a:prstGeom>
          <a:solidFill>
            <a:srgbClr val="0a4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Shape 11"/>
          <p:cNvSpPr/>
          <p:nvPr/>
        </p:nvSpPr>
        <p:spPr>
          <a:xfrm>
            <a:off x="7109640" y="2240280"/>
            <a:ext cx="822240" cy="8222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22" name="Image 2" descr="customer.png"/>
          <p:cNvPicPr/>
          <p:nvPr/>
        </p:nvPicPr>
        <p:blipFill>
          <a:blip r:embed="rId3"/>
          <a:stretch/>
        </p:blipFill>
        <p:spPr>
          <a:xfrm>
            <a:off x="7208280" y="2338920"/>
            <a:ext cx="624600" cy="624600"/>
          </a:xfrm>
          <a:prstGeom prst="rect">
            <a:avLst/>
          </a:prstGeom>
          <a:ln w="0">
            <a:noFill/>
          </a:ln>
        </p:spPr>
      </p:pic>
      <p:sp>
        <p:nvSpPr>
          <p:cNvPr id="123" name="Text 12"/>
          <p:cNvSpPr/>
          <p:nvPr/>
        </p:nvSpPr>
        <p:spPr>
          <a:xfrm>
            <a:off x="6355080" y="3291840"/>
            <a:ext cx="2331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2c39a"/>
                </a:solidFill>
                <a:latin typeface="Cambria"/>
                <a:ea typeface="Cambria"/>
              </a:rPr>
              <a:t>Lower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24" name="Text 13"/>
          <p:cNvSpPr/>
          <p:nvPr/>
        </p:nvSpPr>
        <p:spPr>
          <a:xfrm>
            <a:off x="6355080" y="3886200"/>
            <a:ext cx="2331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ts val="1599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9f0ed"/>
                </a:solidFill>
                <a:latin typeface="Calibri"/>
                <a:ea typeface="Calibri"/>
              </a:rPr>
              <a:t>Customer satisfaction</a:t>
            </a:r>
            <a:endParaRPr b="0" lang="en-IN" sz="1250" spc="-1" strike="noStrike">
              <a:latin typeface="Arial"/>
            </a:endParaRPr>
          </a:p>
          <a:p>
            <a:pPr algn="ctr">
              <a:lnSpc>
                <a:spcPts val="1599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9f0ed"/>
                </a:solidFill>
                <a:latin typeface="Calibri"/>
                <a:ea typeface="Calibri"/>
              </a:rPr>
              <a:t>&amp; retention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25" name="Shape 14"/>
          <p:cNvSpPr/>
          <p:nvPr/>
        </p:nvSpPr>
        <p:spPr>
          <a:xfrm>
            <a:off x="9052560" y="1920240"/>
            <a:ext cx="2605320" cy="3291120"/>
          </a:xfrm>
          <a:prstGeom prst="roundRect">
            <a:avLst>
              <a:gd name="adj" fmla="val 3509"/>
            </a:avLst>
          </a:prstGeom>
          <a:solidFill>
            <a:srgbClr val="0a4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Shape 15"/>
          <p:cNvSpPr/>
          <p:nvPr/>
        </p:nvSpPr>
        <p:spPr>
          <a:xfrm>
            <a:off x="9944280" y="2240280"/>
            <a:ext cx="822240" cy="8222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27" name="Image 3" descr="analysis.png"/>
          <p:cNvPicPr/>
          <p:nvPr/>
        </p:nvPicPr>
        <p:blipFill>
          <a:blip r:embed="rId4"/>
          <a:stretch/>
        </p:blipFill>
        <p:spPr>
          <a:xfrm>
            <a:off x="10042920" y="2338920"/>
            <a:ext cx="624600" cy="624600"/>
          </a:xfrm>
          <a:prstGeom prst="rect">
            <a:avLst/>
          </a:prstGeom>
          <a:ln w="0">
            <a:noFill/>
          </a:ln>
        </p:spPr>
      </p:pic>
      <p:sp>
        <p:nvSpPr>
          <p:cNvPr id="128" name="Text 16"/>
          <p:cNvSpPr/>
          <p:nvPr/>
        </p:nvSpPr>
        <p:spPr>
          <a:xfrm>
            <a:off x="9189720" y="3291840"/>
            <a:ext cx="2331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2c39a"/>
                </a:solidFill>
                <a:latin typeface="Cambria"/>
                <a:ea typeface="Cambria"/>
              </a:rPr>
              <a:t>Blind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29" name="Text 17"/>
          <p:cNvSpPr/>
          <p:nvPr/>
        </p:nvSpPr>
        <p:spPr>
          <a:xfrm>
            <a:off x="9189720" y="3886200"/>
            <a:ext cx="2331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ts val="1599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9f0ed"/>
                </a:solidFill>
                <a:latin typeface="Calibri"/>
                <a:ea typeface="Calibri"/>
              </a:rPr>
              <a:t>Decision-making without</a:t>
            </a:r>
            <a:endParaRPr b="0" lang="en-IN" sz="1250" spc="-1" strike="noStrike">
              <a:latin typeface="Arial"/>
            </a:endParaRPr>
          </a:p>
          <a:p>
            <a:pPr algn="ctr">
              <a:lnSpc>
                <a:spcPts val="1599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9f0ed"/>
                </a:solidFill>
                <a:latin typeface="Calibri"/>
                <a:ea typeface="Calibri"/>
              </a:rPr>
              <a:t>real-time reporting</a:t>
            </a:r>
            <a:endParaRPr b="0" lang="en-IN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0"/>
          <p:cNvSpPr/>
          <p:nvPr/>
        </p:nvSpPr>
        <p:spPr>
          <a:xfrm>
            <a:off x="548640" y="45720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b2b33"/>
                </a:solidFill>
                <a:latin typeface="Cambria"/>
                <a:ea typeface="Cambria"/>
              </a:rPr>
              <a:t>Proposed Solution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131" name="Text 1"/>
          <p:cNvSpPr/>
          <p:nvPr/>
        </p:nvSpPr>
        <p:spPr>
          <a:xfrm>
            <a:off x="548640" y="960120"/>
            <a:ext cx="9143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5c7a80"/>
                </a:solidFill>
                <a:latin typeface="Calibri"/>
                <a:ea typeface="Calibri"/>
              </a:rPr>
              <a:t>A centralized database, built on Microsoft SQL Server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2" name="Shape 2"/>
          <p:cNvSpPr/>
          <p:nvPr/>
        </p:nvSpPr>
        <p:spPr>
          <a:xfrm>
            <a:off x="548640" y="1508760"/>
            <a:ext cx="11063520" cy="91368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Shape 3"/>
          <p:cNvSpPr/>
          <p:nvPr/>
        </p:nvSpPr>
        <p:spPr>
          <a:xfrm>
            <a:off x="777240" y="1673280"/>
            <a:ext cx="584640" cy="584640"/>
          </a:xfrm>
          <a:prstGeom prst="ellipse">
            <a:avLst/>
          </a:prstGeom>
          <a:solidFill>
            <a:srgbClr val="0a4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34" name="Image 0" descr="database.png"/>
          <p:cNvPicPr/>
          <p:nvPr/>
        </p:nvPicPr>
        <p:blipFill>
          <a:blip r:embed="rId1"/>
          <a:stretch/>
        </p:blipFill>
        <p:spPr>
          <a:xfrm>
            <a:off x="847440" y="1743480"/>
            <a:ext cx="443880" cy="443880"/>
          </a:xfrm>
          <a:prstGeom prst="rect">
            <a:avLst/>
          </a:prstGeom>
          <a:ln w="0">
            <a:noFill/>
          </a:ln>
        </p:spPr>
      </p:pic>
      <p:sp>
        <p:nvSpPr>
          <p:cNvPr id="135" name="Text 4"/>
          <p:cNvSpPr/>
          <p:nvPr/>
        </p:nvSpPr>
        <p:spPr>
          <a:xfrm>
            <a:off x="1554480" y="1508760"/>
            <a:ext cx="98748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Calibri"/>
                <a:ea typeface="Calibri"/>
              </a:rPr>
              <a:t>One structured system replacing spreadsheets and disconnected apps — real-time, consistent, and built for decision-making.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136" name="Shape 5"/>
          <p:cNvSpPr/>
          <p:nvPr/>
        </p:nvSpPr>
        <p:spPr>
          <a:xfrm>
            <a:off x="548640" y="2697480"/>
            <a:ext cx="3565440" cy="141660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9edea"/>
            </a:solidFill>
            <a:round/>
          </a:ln>
          <a:effectLst>
            <a:outerShdw algn="bl" blurRad="76320" dir="5400000" dist="25560" kx="0" ky="0" rotWithShape="0" sx="100000" sy="100000">
              <a:srgbClr val="0b2b33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7" name="Shape 6"/>
          <p:cNvSpPr/>
          <p:nvPr/>
        </p:nvSpPr>
        <p:spPr>
          <a:xfrm>
            <a:off x="749880" y="2898720"/>
            <a:ext cx="456480" cy="45648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38" name="Image 1" descr="customer.png"/>
          <p:cNvPicPr/>
          <p:nvPr/>
        </p:nvPicPr>
        <p:blipFill>
          <a:blip r:embed="rId2"/>
          <a:stretch/>
        </p:blipFill>
        <p:spPr>
          <a:xfrm>
            <a:off x="804600" y="2953440"/>
            <a:ext cx="346680" cy="346680"/>
          </a:xfrm>
          <a:prstGeom prst="rect">
            <a:avLst/>
          </a:prstGeom>
          <a:ln w="0">
            <a:noFill/>
          </a:ln>
        </p:spPr>
      </p:pic>
      <p:sp>
        <p:nvSpPr>
          <p:cNvPr id="139" name="Text 7"/>
          <p:cNvSpPr/>
          <p:nvPr/>
        </p:nvSpPr>
        <p:spPr>
          <a:xfrm>
            <a:off x="1325880" y="2843640"/>
            <a:ext cx="2651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2b33"/>
                </a:solidFill>
                <a:latin typeface="Calibri"/>
                <a:ea typeface="Calibri"/>
              </a:rPr>
              <a:t>Customer Management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0" name="Text 8"/>
          <p:cNvSpPr/>
          <p:nvPr/>
        </p:nvSpPr>
        <p:spPr>
          <a:xfrm>
            <a:off x="1325880" y="3200400"/>
            <a:ext cx="26510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80"/>
                </a:solidFill>
                <a:latin typeface="Calibri"/>
                <a:ea typeface="Calibri"/>
              </a:rPr>
              <a:t>Registrations, orders, and reviews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1" name="Shape 9"/>
          <p:cNvSpPr/>
          <p:nvPr/>
        </p:nvSpPr>
        <p:spPr>
          <a:xfrm>
            <a:off x="4297680" y="2697480"/>
            <a:ext cx="3565440" cy="141660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9edea"/>
            </a:solidFill>
            <a:round/>
          </a:ln>
          <a:effectLst>
            <a:outerShdw algn="bl" blurRad="76320" dir="5400000" dist="25560" kx="0" ky="0" rotWithShape="0" sx="100000" sy="100000">
              <a:srgbClr val="0b2b33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2" name="Shape 10"/>
          <p:cNvSpPr/>
          <p:nvPr/>
        </p:nvSpPr>
        <p:spPr>
          <a:xfrm>
            <a:off x="4498920" y="2898720"/>
            <a:ext cx="456480" cy="45648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43" name="Image 2" descr="inventory.png"/>
          <p:cNvPicPr/>
          <p:nvPr/>
        </p:nvPicPr>
        <p:blipFill>
          <a:blip r:embed="rId3"/>
          <a:stretch/>
        </p:blipFill>
        <p:spPr>
          <a:xfrm>
            <a:off x="4553640" y="2953440"/>
            <a:ext cx="346680" cy="346680"/>
          </a:xfrm>
          <a:prstGeom prst="rect">
            <a:avLst/>
          </a:prstGeom>
          <a:ln w="0">
            <a:noFill/>
          </a:ln>
        </p:spPr>
      </p:pic>
      <p:sp>
        <p:nvSpPr>
          <p:cNvPr id="144" name="Text 11"/>
          <p:cNvSpPr/>
          <p:nvPr/>
        </p:nvSpPr>
        <p:spPr>
          <a:xfrm>
            <a:off x="5074920" y="2843640"/>
            <a:ext cx="2651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2b33"/>
                </a:solidFill>
                <a:latin typeface="Calibri"/>
                <a:ea typeface="Calibri"/>
              </a:rPr>
              <a:t>Inventory Management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5" name="Text 12"/>
          <p:cNvSpPr/>
          <p:nvPr/>
        </p:nvSpPr>
        <p:spPr>
          <a:xfrm>
            <a:off x="5074920" y="3200400"/>
            <a:ext cx="26510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80"/>
                </a:solidFill>
                <a:latin typeface="Calibri"/>
                <a:ea typeface="Calibri"/>
              </a:rPr>
              <a:t>Accurate stock &amp; supplier details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6" name="Shape 13"/>
          <p:cNvSpPr/>
          <p:nvPr/>
        </p:nvSpPr>
        <p:spPr>
          <a:xfrm>
            <a:off x="8046720" y="2697480"/>
            <a:ext cx="3565440" cy="141660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9edea"/>
            </a:solidFill>
            <a:round/>
          </a:ln>
          <a:effectLst>
            <a:outerShdw algn="bl" blurRad="76320" dir="5400000" dist="25560" kx="0" ky="0" rotWithShape="0" sx="100000" sy="100000">
              <a:srgbClr val="0b2b33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7" name="Shape 14"/>
          <p:cNvSpPr/>
          <p:nvPr/>
        </p:nvSpPr>
        <p:spPr>
          <a:xfrm>
            <a:off x="8247960" y="2898720"/>
            <a:ext cx="456480" cy="45648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48" name="Image 3" descr="orders.png"/>
          <p:cNvPicPr/>
          <p:nvPr/>
        </p:nvPicPr>
        <p:blipFill>
          <a:blip r:embed="rId4"/>
          <a:stretch/>
        </p:blipFill>
        <p:spPr>
          <a:xfrm>
            <a:off x="8302680" y="2953440"/>
            <a:ext cx="346680" cy="346680"/>
          </a:xfrm>
          <a:prstGeom prst="rect">
            <a:avLst/>
          </a:prstGeom>
          <a:ln w="0">
            <a:noFill/>
          </a:ln>
        </p:spPr>
      </p:pic>
      <p:sp>
        <p:nvSpPr>
          <p:cNvPr id="149" name="Text 15"/>
          <p:cNvSpPr/>
          <p:nvPr/>
        </p:nvSpPr>
        <p:spPr>
          <a:xfrm>
            <a:off x="8823960" y="2843640"/>
            <a:ext cx="2651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2b33"/>
                </a:solidFill>
                <a:latin typeface="Calibri"/>
                <a:ea typeface="Calibri"/>
              </a:rPr>
              <a:t>Order Processing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0" name="Text 16"/>
          <p:cNvSpPr/>
          <p:nvPr/>
        </p:nvSpPr>
        <p:spPr>
          <a:xfrm>
            <a:off x="8823960" y="3200400"/>
            <a:ext cx="26510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80"/>
                </a:solidFill>
                <a:latin typeface="Calibri"/>
                <a:ea typeface="Calibri"/>
              </a:rPr>
              <a:t>Creation, payments, tracking status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1" name="Shape 17"/>
          <p:cNvSpPr/>
          <p:nvPr/>
        </p:nvSpPr>
        <p:spPr>
          <a:xfrm>
            <a:off x="548640" y="4297680"/>
            <a:ext cx="3565440" cy="141660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9edea"/>
            </a:solidFill>
            <a:round/>
          </a:ln>
          <a:effectLst>
            <a:outerShdw algn="bl" blurRad="76320" dir="5400000" dist="25560" kx="0" ky="0" rotWithShape="0" sx="100000" sy="100000">
              <a:srgbClr val="0b2b33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2" name="Shape 18"/>
          <p:cNvSpPr/>
          <p:nvPr/>
        </p:nvSpPr>
        <p:spPr>
          <a:xfrm>
            <a:off x="749880" y="4498920"/>
            <a:ext cx="456480" cy="45648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53" name="Image 4" descr="supplier.png"/>
          <p:cNvPicPr/>
          <p:nvPr/>
        </p:nvPicPr>
        <p:blipFill>
          <a:blip r:embed="rId5"/>
          <a:stretch/>
        </p:blipFill>
        <p:spPr>
          <a:xfrm>
            <a:off x="804600" y="4553640"/>
            <a:ext cx="346680" cy="346680"/>
          </a:xfrm>
          <a:prstGeom prst="rect">
            <a:avLst/>
          </a:prstGeom>
          <a:ln w="0">
            <a:noFill/>
          </a:ln>
        </p:spPr>
      </p:pic>
      <p:sp>
        <p:nvSpPr>
          <p:cNvPr id="154" name="Text 19"/>
          <p:cNvSpPr/>
          <p:nvPr/>
        </p:nvSpPr>
        <p:spPr>
          <a:xfrm>
            <a:off x="1325880" y="4443840"/>
            <a:ext cx="2651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2b33"/>
                </a:solidFill>
                <a:latin typeface="Calibri"/>
                <a:ea typeface="Calibri"/>
              </a:rPr>
              <a:t>Supplier Coordination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5" name="Text 20"/>
          <p:cNvSpPr/>
          <p:nvPr/>
        </p:nvSpPr>
        <p:spPr>
          <a:xfrm>
            <a:off x="1325880" y="4800600"/>
            <a:ext cx="26510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80"/>
                </a:solidFill>
                <a:latin typeface="Calibri"/>
                <a:ea typeface="Calibri"/>
              </a:rPr>
              <a:t>Supplier details &amp; purchase history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6" name="Shape 21"/>
          <p:cNvSpPr/>
          <p:nvPr/>
        </p:nvSpPr>
        <p:spPr>
          <a:xfrm>
            <a:off x="4297680" y="4297680"/>
            <a:ext cx="3565440" cy="141660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9edea"/>
            </a:solidFill>
            <a:round/>
          </a:ln>
          <a:effectLst>
            <a:outerShdw algn="bl" blurRad="76320" dir="5400000" dist="25560" kx="0" ky="0" rotWithShape="0" sx="100000" sy="100000">
              <a:srgbClr val="0b2b33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7" name="Shape 22"/>
          <p:cNvSpPr/>
          <p:nvPr/>
        </p:nvSpPr>
        <p:spPr>
          <a:xfrm>
            <a:off x="4498920" y="4498920"/>
            <a:ext cx="456480" cy="45648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58" name="Image 5" descr="service.png"/>
          <p:cNvPicPr/>
          <p:nvPr/>
        </p:nvPicPr>
        <p:blipFill>
          <a:blip r:embed="rId6"/>
          <a:stretch/>
        </p:blipFill>
        <p:spPr>
          <a:xfrm>
            <a:off x="4553640" y="4553640"/>
            <a:ext cx="346680" cy="346680"/>
          </a:xfrm>
          <a:prstGeom prst="rect">
            <a:avLst/>
          </a:prstGeom>
          <a:ln w="0">
            <a:noFill/>
          </a:ln>
        </p:spPr>
      </p:pic>
      <p:sp>
        <p:nvSpPr>
          <p:cNvPr id="159" name="Text 23"/>
          <p:cNvSpPr/>
          <p:nvPr/>
        </p:nvSpPr>
        <p:spPr>
          <a:xfrm>
            <a:off x="5074920" y="4443840"/>
            <a:ext cx="2651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2b33"/>
                </a:solidFill>
                <a:latin typeface="Calibri"/>
                <a:ea typeface="Calibri"/>
              </a:rPr>
              <a:t>Employee &amp; Departments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0" name="Text 24"/>
          <p:cNvSpPr/>
          <p:nvPr/>
        </p:nvSpPr>
        <p:spPr>
          <a:xfrm>
            <a:off x="5074920" y="4800600"/>
            <a:ext cx="26510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80"/>
                </a:solidFill>
                <a:latin typeface="Calibri"/>
                <a:ea typeface="Calibri"/>
              </a:rPr>
              <a:t>Organized workforce information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1" name="Shape 25"/>
          <p:cNvSpPr/>
          <p:nvPr/>
        </p:nvSpPr>
        <p:spPr>
          <a:xfrm>
            <a:off x="8046720" y="4297680"/>
            <a:ext cx="3565440" cy="141660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9edea"/>
            </a:solidFill>
            <a:round/>
          </a:ln>
          <a:effectLst>
            <a:outerShdw algn="bl" blurRad="76320" dir="5400000" dist="25560" kx="0" ky="0" rotWithShape="0" sx="100000" sy="100000">
              <a:srgbClr val="0b2b33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2" name="Shape 26"/>
          <p:cNvSpPr/>
          <p:nvPr/>
        </p:nvSpPr>
        <p:spPr>
          <a:xfrm>
            <a:off x="8247960" y="4498920"/>
            <a:ext cx="456480" cy="45648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63" name="Image 6" descr="insights.png"/>
          <p:cNvPicPr/>
          <p:nvPr/>
        </p:nvPicPr>
        <p:blipFill>
          <a:blip r:embed="rId7"/>
          <a:stretch/>
        </p:blipFill>
        <p:spPr>
          <a:xfrm>
            <a:off x="8302680" y="4553640"/>
            <a:ext cx="346680" cy="346680"/>
          </a:xfrm>
          <a:prstGeom prst="rect">
            <a:avLst/>
          </a:prstGeom>
          <a:ln w="0">
            <a:noFill/>
          </a:ln>
        </p:spPr>
      </p:pic>
      <p:sp>
        <p:nvSpPr>
          <p:cNvPr id="164" name="Text 27"/>
          <p:cNvSpPr/>
          <p:nvPr/>
        </p:nvSpPr>
        <p:spPr>
          <a:xfrm>
            <a:off x="8823960" y="4443840"/>
            <a:ext cx="2651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2b33"/>
                </a:solidFill>
                <a:latin typeface="Calibri"/>
                <a:ea typeface="Calibri"/>
              </a:rPr>
              <a:t>Reporting &amp; BI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5" name="Text 28"/>
          <p:cNvSpPr/>
          <p:nvPr/>
        </p:nvSpPr>
        <p:spPr>
          <a:xfrm>
            <a:off x="8823960" y="4800600"/>
            <a:ext cx="26510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80"/>
                </a:solidFill>
                <a:latin typeface="Calibri"/>
                <a:ea typeface="Calibri"/>
              </a:rPr>
              <a:t>Sales insights &amp; performance reports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37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0"/>
          <p:cNvSpPr/>
          <p:nvPr/>
        </p:nvSpPr>
        <p:spPr>
          <a:xfrm>
            <a:off x="9418320" y="3931920"/>
            <a:ext cx="4205520" cy="4205520"/>
          </a:xfrm>
          <a:prstGeom prst="ellipse">
            <a:avLst/>
          </a:prstGeom>
          <a:solidFill>
            <a:srgbClr val="02809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1"/>
          <p:cNvSpPr/>
          <p:nvPr/>
        </p:nvSpPr>
        <p:spPr>
          <a:xfrm>
            <a:off x="640080" y="1188720"/>
            <a:ext cx="96004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This Is Just the Beginning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68" name="Text 2"/>
          <p:cNvSpPr/>
          <p:nvPr/>
        </p:nvSpPr>
        <p:spPr>
          <a:xfrm>
            <a:off x="640080" y="1920240"/>
            <a:ext cx="85032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001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cfe9e6"/>
                </a:solidFill>
                <a:latin typeface="Calibri"/>
                <a:ea typeface="Calibri"/>
              </a:rPr>
              <a:t>This session covers the problem and the direction. The detailed design follows in the next two sessions.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69" name="Shape 3"/>
          <p:cNvSpPr/>
          <p:nvPr/>
        </p:nvSpPr>
        <p:spPr>
          <a:xfrm>
            <a:off x="640080" y="2880360"/>
            <a:ext cx="3565440" cy="2102400"/>
          </a:xfrm>
          <a:prstGeom prst="roundRect">
            <a:avLst>
              <a:gd name="adj" fmla="val 4348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4"/>
          <p:cNvSpPr/>
          <p:nvPr/>
        </p:nvSpPr>
        <p:spPr>
          <a:xfrm>
            <a:off x="868680" y="3063240"/>
            <a:ext cx="7308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5374a"/>
                </a:solidFill>
                <a:latin typeface="Cambria"/>
                <a:ea typeface="Cambria"/>
              </a:rPr>
              <a:t>1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71" name="Text 5"/>
          <p:cNvSpPr/>
          <p:nvPr/>
        </p:nvSpPr>
        <p:spPr>
          <a:xfrm>
            <a:off x="868680" y="3657600"/>
            <a:ext cx="3108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5374a"/>
                </a:solidFill>
                <a:latin typeface="Calibri"/>
                <a:ea typeface="Calibri"/>
              </a:rPr>
              <a:t>Problem &amp; Introduction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172" name="Text 6"/>
          <p:cNvSpPr/>
          <p:nvPr/>
        </p:nvSpPr>
        <p:spPr>
          <a:xfrm>
            <a:off x="868680" y="4114800"/>
            <a:ext cx="31082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4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b2b33"/>
                </a:solidFill>
                <a:latin typeface="Calibri"/>
                <a:ea typeface="Calibri"/>
              </a:rPr>
              <a:t>Business context, pain points, and solution direction — covered here.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73" name="Shape 7"/>
          <p:cNvSpPr/>
          <p:nvPr/>
        </p:nvSpPr>
        <p:spPr>
          <a:xfrm>
            <a:off x="4434840" y="2880360"/>
            <a:ext cx="3565440" cy="2102400"/>
          </a:xfrm>
          <a:prstGeom prst="roundRect">
            <a:avLst>
              <a:gd name="adj" fmla="val 4348"/>
            </a:avLst>
          </a:prstGeom>
          <a:solidFill>
            <a:srgbClr val="0a4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8"/>
          <p:cNvSpPr/>
          <p:nvPr/>
        </p:nvSpPr>
        <p:spPr>
          <a:xfrm>
            <a:off x="4663440" y="3063240"/>
            <a:ext cx="7308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2c39a"/>
                </a:solidFill>
                <a:latin typeface="Cambria"/>
                <a:ea typeface="Cambria"/>
              </a:rPr>
              <a:t>2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75" name="Text 9"/>
          <p:cNvSpPr/>
          <p:nvPr/>
        </p:nvSpPr>
        <p:spPr>
          <a:xfrm>
            <a:off x="4663440" y="3657600"/>
            <a:ext cx="3108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Calibri"/>
                <a:ea typeface="Calibri"/>
              </a:rPr>
              <a:t>Requirement Analysis &amp; Design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176" name="Text 10"/>
          <p:cNvSpPr/>
          <p:nvPr/>
        </p:nvSpPr>
        <p:spPr>
          <a:xfrm>
            <a:off x="4663440" y="4114800"/>
            <a:ext cx="31082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4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fe9e6"/>
                </a:solidFill>
                <a:latin typeface="Calibri"/>
                <a:ea typeface="Calibri"/>
              </a:rPr>
              <a:t>Entities, relationships, and schema design for the database.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77" name="Shape 11"/>
          <p:cNvSpPr/>
          <p:nvPr/>
        </p:nvSpPr>
        <p:spPr>
          <a:xfrm>
            <a:off x="8229600" y="2880360"/>
            <a:ext cx="3565440" cy="2102400"/>
          </a:xfrm>
          <a:prstGeom prst="roundRect">
            <a:avLst>
              <a:gd name="adj" fmla="val 4348"/>
            </a:avLst>
          </a:prstGeom>
          <a:solidFill>
            <a:srgbClr val="0a4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 12"/>
          <p:cNvSpPr/>
          <p:nvPr/>
        </p:nvSpPr>
        <p:spPr>
          <a:xfrm>
            <a:off x="8458200" y="3063240"/>
            <a:ext cx="7308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2c39a"/>
                </a:solidFill>
                <a:latin typeface="Cambria"/>
                <a:ea typeface="Cambria"/>
              </a:rPr>
              <a:t>3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79" name="Text 13"/>
          <p:cNvSpPr/>
          <p:nvPr/>
        </p:nvSpPr>
        <p:spPr>
          <a:xfrm>
            <a:off x="8458200" y="3657600"/>
            <a:ext cx="3108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Calibri"/>
                <a:ea typeface="Calibri"/>
              </a:rPr>
              <a:t>Implementation &amp; Reporting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180" name="Text 14"/>
          <p:cNvSpPr/>
          <p:nvPr/>
        </p:nvSpPr>
        <p:spPr>
          <a:xfrm>
            <a:off x="8458200" y="4114800"/>
            <a:ext cx="31082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4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fe9e6"/>
                </a:solidFill>
                <a:latin typeface="Calibri"/>
                <a:ea typeface="Calibri"/>
              </a:rPr>
              <a:t>Build-out in SQL Server, plus queries, views, and BI reports.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Application>LibreOffice/7.1.4.2$Windows_X86_64 LibreOffice_project/a529a4fab45b75fefc5b6226684193eb000654f6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2026-08-25T17:00:44Z</dcterms:created>
  <dc:creator>PptxGenJS</dc:creator>
  <dc:description/>
  <dc:language>en-IN</dc:language>
  <cp:lastModifiedBy/>
  <dcterms:modified xsi:type="dcterms:W3CDTF">2026-08-26T16:09:44Z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